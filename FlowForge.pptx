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Raleway Bold" charset="1" panose="00000000000000000000"/>
      <p:regular r:id="rId39"/>
    </p:embeddedFont>
    <p:embeddedFont>
      <p:font typeface="Raleway" charset="1" panose="000000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F751F"/>
        </a:solidFill>
      </p:bgPr>
    </p:bg>
    <p:spTree>
      <p:nvGrpSpPr>
        <p:cNvPr id="1" name=""/>
        <p:cNvGrpSpPr/>
        <p:nvPr/>
      </p:nvGrpSpPr>
      <p:grpSpPr>
        <a:xfrm>
          <a:off x="0" y="0"/>
          <a:ext cx="0" cy="0"/>
          <a:chOff x="0" y="0"/>
          <a:chExt cx="0" cy="0"/>
        </a:xfrm>
      </p:grpSpPr>
      <p:sp>
        <p:nvSpPr>
          <p:cNvPr name="TextBox 2" id="2"/>
          <p:cNvSpPr txBox="true"/>
          <p:nvPr/>
        </p:nvSpPr>
        <p:spPr>
          <a:xfrm rot="0">
            <a:off x="3530950" y="2218123"/>
            <a:ext cx="10200318" cy="1276350"/>
          </a:xfrm>
          <a:prstGeom prst="rect">
            <a:avLst/>
          </a:prstGeom>
        </p:spPr>
        <p:txBody>
          <a:bodyPr anchor="t" rtlCol="false" tIns="0" lIns="0" bIns="0" rIns="0">
            <a:spAutoFit/>
          </a:bodyPr>
          <a:lstStyle/>
          <a:p>
            <a:pPr algn="ctr">
              <a:lnSpc>
                <a:spcPts val="10012"/>
              </a:lnSpc>
            </a:pPr>
            <a:r>
              <a:rPr lang="en-US" b="true" sz="8344">
                <a:solidFill>
                  <a:srgbClr val="FFFFFF"/>
                </a:solidFill>
                <a:latin typeface="Raleway Bold"/>
                <a:ea typeface="Raleway Bold"/>
                <a:cs typeface="Raleway Bold"/>
                <a:sym typeface="Raleway Bold"/>
              </a:rPr>
              <a:t>FlowForge</a:t>
            </a:r>
          </a:p>
        </p:txBody>
      </p:sp>
      <p:sp>
        <p:nvSpPr>
          <p:cNvPr name="TextBox 3" id="3"/>
          <p:cNvSpPr txBox="true"/>
          <p:nvPr/>
        </p:nvSpPr>
        <p:spPr>
          <a:xfrm rot="0">
            <a:off x="10099862" y="7476215"/>
            <a:ext cx="3631406" cy="721997"/>
          </a:xfrm>
          <a:prstGeom prst="rect">
            <a:avLst/>
          </a:prstGeom>
        </p:spPr>
        <p:txBody>
          <a:bodyPr anchor="t" rtlCol="false" tIns="0" lIns="0" bIns="0" rIns="0">
            <a:spAutoFit/>
          </a:bodyPr>
          <a:lstStyle/>
          <a:p>
            <a:pPr algn="ctr">
              <a:lnSpc>
                <a:spcPts val="5879"/>
              </a:lnSpc>
              <a:spcBef>
                <a:spcPct val="0"/>
              </a:spcBef>
            </a:pPr>
            <a:r>
              <a:rPr lang="en-US" b="true" sz="4199">
                <a:solidFill>
                  <a:srgbClr val="FFFFFF"/>
                </a:solidFill>
                <a:latin typeface="Raleway Bold"/>
                <a:ea typeface="Raleway Bold"/>
                <a:cs typeface="Raleway Bold"/>
                <a:sym typeface="Raleway Bold"/>
              </a:rPr>
              <a:t>Noel Mathews</a:t>
            </a:r>
          </a:p>
        </p:txBody>
      </p:sp>
      <p:sp>
        <p:nvSpPr>
          <p:cNvPr name="TextBox 4" id="4"/>
          <p:cNvSpPr txBox="true"/>
          <p:nvPr/>
        </p:nvSpPr>
        <p:spPr>
          <a:xfrm rot="0">
            <a:off x="4377179" y="3951604"/>
            <a:ext cx="8507859" cy="1693869"/>
          </a:xfrm>
          <a:prstGeom prst="rect">
            <a:avLst/>
          </a:prstGeom>
        </p:spPr>
        <p:txBody>
          <a:bodyPr anchor="t" rtlCol="false" tIns="0" lIns="0" bIns="0" rIns="0">
            <a:spAutoFit/>
          </a:bodyPr>
          <a:lstStyle/>
          <a:p>
            <a:pPr algn="ctr">
              <a:lnSpc>
                <a:spcPts val="4516"/>
              </a:lnSpc>
              <a:spcBef>
                <a:spcPct val="0"/>
              </a:spcBef>
            </a:pPr>
            <a:r>
              <a:rPr lang="en-US" b="true" sz="3225">
                <a:solidFill>
                  <a:srgbClr val="FFFFFF"/>
                </a:solidFill>
                <a:latin typeface="Raleway Bold"/>
                <a:ea typeface="Raleway Bold"/>
                <a:cs typeface="Raleway Bold"/>
                <a:sym typeface="Raleway Bold"/>
              </a:rPr>
              <a:t>A Cl</a:t>
            </a:r>
            <a:r>
              <a:rPr lang="en-US" b="true" sz="3225">
                <a:solidFill>
                  <a:srgbClr val="FFFFFF"/>
                </a:solidFill>
                <a:latin typeface="Raleway Bold"/>
                <a:ea typeface="Raleway Bold"/>
                <a:cs typeface="Raleway Bold"/>
                <a:sym typeface="Raleway Bold"/>
              </a:rPr>
              <a:t>oud-Native Microservices based Task Management Platform with a Production-Ready DevSecOps Pipeline</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212864"/>
            <a:ext cx="3940228" cy="752475"/>
          </a:xfrm>
          <a:prstGeom prst="rect">
            <a:avLst/>
          </a:prstGeom>
        </p:spPr>
        <p:txBody>
          <a:bodyPr anchor="t" rtlCol="false" tIns="0" lIns="0" bIns="0" rIns="0">
            <a:spAutoFit/>
          </a:bodyPr>
          <a:lstStyle/>
          <a:p>
            <a:pPr algn="ctr">
              <a:lnSpc>
                <a:spcPts val="5917"/>
              </a:lnSpc>
            </a:pPr>
            <a:r>
              <a:rPr lang="en-US" b="true" sz="4930">
                <a:solidFill>
                  <a:srgbClr val="FF751F"/>
                </a:solidFill>
                <a:latin typeface="Raleway Bold"/>
                <a:ea typeface="Raleway Bold"/>
                <a:cs typeface="Raleway Bold"/>
                <a:sym typeface="Raleway Bold"/>
              </a:rPr>
              <a:t>Objective</a:t>
            </a:r>
          </a:p>
        </p:txBody>
      </p:sp>
      <p:sp>
        <p:nvSpPr>
          <p:cNvPr name="TextBox 3" id="3"/>
          <p:cNvSpPr txBox="true"/>
          <p:nvPr/>
        </p:nvSpPr>
        <p:spPr>
          <a:xfrm rot="0">
            <a:off x="1517230" y="2124543"/>
            <a:ext cx="15253540" cy="6701790"/>
          </a:xfrm>
          <a:prstGeom prst="rect">
            <a:avLst/>
          </a:prstGeom>
        </p:spPr>
        <p:txBody>
          <a:bodyPr anchor="t" rtlCol="false" tIns="0" lIns="0" bIns="0" rIns="0">
            <a:spAutoFit/>
          </a:bodyPr>
          <a:lstStyle/>
          <a:p>
            <a:pPr algn="l">
              <a:lnSpc>
                <a:spcPts val="3359"/>
              </a:lnSpc>
              <a:spcBef>
                <a:spcPct val="0"/>
              </a:spcBef>
            </a:pPr>
            <a:r>
              <a:rPr lang="en-US" b="true" sz="2399">
                <a:solidFill>
                  <a:srgbClr val="000000"/>
                </a:solidFill>
                <a:latin typeface="Raleway Bold"/>
                <a:ea typeface="Raleway Bold"/>
                <a:cs typeface="Raleway Bold"/>
                <a:sym typeface="Raleway Bold"/>
              </a:rPr>
              <a:t>FlowForge is a cl</a:t>
            </a:r>
            <a:r>
              <a:rPr lang="en-US" b="true" sz="2399">
                <a:solidFill>
                  <a:srgbClr val="000000"/>
                </a:solidFill>
                <a:latin typeface="Raleway Bold"/>
                <a:ea typeface="Raleway Bold"/>
                <a:cs typeface="Raleway Bold"/>
                <a:sym typeface="Raleway Bold"/>
              </a:rPr>
              <a:t>oud-native project and task management platform built on 6 microservices — API Gateway, Auth, Project, Task, Analysis, and a Next.js Frontend — backed by PostgreSQL and Redis.</a:t>
            </a:r>
          </a:p>
          <a:p>
            <a:pPr algn="l">
              <a:lnSpc>
                <a:spcPts val="3359"/>
              </a:lnSpc>
              <a:spcBef>
                <a:spcPct val="0"/>
              </a:spcBef>
            </a:pPr>
          </a:p>
          <a:p>
            <a:pPr algn="l">
              <a:lnSpc>
                <a:spcPts val="3359"/>
              </a:lnSpc>
              <a:spcBef>
                <a:spcPct val="0"/>
              </a:spcBef>
            </a:pPr>
            <a:r>
              <a:rPr lang="en-US" b="true" sz="2399">
                <a:solidFill>
                  <a:srgbClr val="000000"/>
                </a:solidFill>
                <a:latin typeface="Raleway Bold"/>
                <a:ea typeface="Raleway Bold"/>
                <a:cs typeface="Raleway Bold"/>
                <a:sym typeface="Raleway Bold"/>
              </a:rPr>
              <a:t>The Problem: Before DevOps, software delivery was entirely manual. Engineers SSH-ed into servers, copied files by hand, had no monitoring, no automated testing, and no reliable rollback. As applications moved to the cloud and microservices became the standard, this approach completely broke down — you cannot manually manage 6 services, a database, a cache, load balancers, and storage across distributed nodes.</a:t>
            </a:r>
          </a:p>
          <a:p>
            <a:pPr algn="l">
              <a:lnSpc>
                <a:spcPts val="3359"/>
              </a:lnSpc>
              <a:spcBef>
                <a:spcPct val="0"/>
              </a:spcBef>
            </a:pPr>
          </a:p>
          <a:p>
            <a:pPr algn="l">
              <a:lnSpc>
                <a:spcPts val="3359"/>
              </a:lnSpc>
              <a:spcBef>
                <a:spcPct val="0"/>
              </a:spcBef>
            </a:pPr>
            <a:r>
              <a:rPr lang="en-US" b="true" sz="2399">
                <a:solidFill>
                  <a:srgbClr val="000000"/>
                </a:solidFill>
                <a:latin typeface="Raleway Bold"/>
                <a:ea typeface="Raleway Bold"/>
                <a:cs typeface="Raleway Bold"/>
                <a:sym typeface="Raleway Bold"/>
              </a:rPr>
              <a:t>Our Goal: Deploy FlowForge on a production-grade, self-managed Kubernetes cluster on AWS — with thrreeworker nodes, persistent NFS-backed storage, a centralized load balancer, and full namespace isolation between dev and production environments. On top of that infrastructure, build a DevSecOps pipeline that automates every step from code push to cluster deployment — with security scanning, controlled release strategies, deployment governance, and full observability — so the platform runs reliably, safely, and at scale.</a:t>
            </a:r>
          </a:p>
          <a:p>
            <a:pPr algn="l">
              <a:lnSpc>
                <a:spcPts val="335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45515" y="1506431"/>
            <a:ext cx="11764373" cy="632460"/>
          </a:xfrm>
          <a:prstGeom prst="rect">
            <a:avLst/>
          </a:prstGeom>
        </p:spPr>
        <p:txBody>
          <a:bodyPr anchor="t" rtlCol="false" tIns="0" lIns="0" bIns="0" rIns="0">
            <a:spAutoFit/>
          </a:bodyPr>
          <a:lstStyle/>
          <a:p>
            <a:pPr algn="l">
              <a:lnSpc>
                <a:spcPts val="5040"/>
              </a:lnSpc>
            </a:pPr>
            <a:r>
              <a:rPr lang="en-US" sz="3600" b="true">
                <a:solidFill>
                  <a:srgbClr val="FF751F"/>
                </a:solidFill>
                <a:latin typeface="Raleway Bold"/>
                <a:ea typeface="Raleway Bold"/>
                <a:cs typeface="Raleway Bold"/>
                <a:sym typeface="Raleway Bold"/>
              </a:rPr>
              <a:t>Application Stack</a:t>
            </a:r>
          </a:p>
        </p:txBody>
      </p:sp>
      <p:sp>
        <p:nvSpPr>
          <p:cNvPr name="TextBox 3" id="3"/>
          <p:cNvSpPr txBox="true"/>
          <p:nvPr/>
        </p:nvSpPr>
        <p:spPr>
          <a:xfrm rot="0">
            <a:off x="545515" y="2483976"/>
            <a:ext cx="12238673" cy="2277111"/>
          </a:xfrm>
          <a:prstGeom prst="rect">
            <a:avLst/>
          </a:prstGeom>
        </p:spPr>
        <p:txBody>
          <a:bodyPr anchor="t" rtlCol="false" tIns="0" lIns="0" bIns="0" rIns="0">
            <a:spAutoFit/>
          </a:bodyPr>
          <a:lstStyle/>
          <a:p>
            <a:pPr algn="l">
              <a:lnSpc>
                <a:spcPts val="3639"/>
              </a:lnSpc>
            </a:pPr>
            <a:r>
              <a:rPr lang="en-US" sz="2599">
                <a:solidFill>
                  <a:srgbClr val="000000"/>
                </a:solidFill>
                <a:latin typeface="Raleway"/>
                <a:ea typeface="Raleway"/>
                <a:cs typeface="Raleway"/>
                <a:sym typeface="Raleway"/>
              </a:rPr>
              <a:t>•Frontend: Next.js Framework</a:t>
            </a:r>
          </a:p>
          <a:p>
            <a:pPr algn="l">
              <a:lnSpc>
                <a:spcPts val="3639"/>
              </a:lnSpc>
            </a:pPr>
            <a:r>
              <a:rPr lang="en-US" sz="2599">
                <a:solidFill>
                  <a:srgbClr val="000000"/>
                </a:solidFill>
                <a:latin typeface="Raleway"/>
                <a:ea typeface="Raleway"/>
                <a:cs typeface="Raleway"/>
                <a:sym typeface="Raleway"/>
              </a:rPr>
              <a:t>•Backend Services: Python FastAPI</a:t>
            </a:r>
          </a:p>
          <a:p>
            <a:pPr algn="l">
              <a:lnSpc>
                <a:spcPts val="3639"/>
              </a:lnSpc>
            </a:pPr>
            <a:r>
              <a:rPr lang="en-US" sz="2599">
                <a:solidFill>
                  <a:srgbClr val="000000"/>
                </a:solidFill>
                <a:latin typeface="Raleway"/>
                <a:ea typeface="Raleway"/>
                <a:cs typeface="Raleway"/>
                <a:sym typeface="Raleway"/>
              </a:rPr>
              <a:t>•Internal Communication: HTTP REST API calls over ClusterIP with NetworkPolicy</a:t>
            </a:r>
          </a:p>
          <a:p>
            <a:pPr algn="l">
              <a:lnSpc>
                <a:spcPts val="3639"/>
              </a:lnSpc>
            </a:pPr>
            <a:r>
              <a:rPr lang="en-US" sz="2599">
                <a:solidFill>
                  <a:srgbClr val="000000"/>
                </a:solidFill>
                <a:latin typeface="Raleway"/>
                <a:ea typeface="Raleway"/>
                <a:cs typeface="Raleway"/>
                <a:sym typeface="Raleway"/>
              </a:rPr>
              <a:t>•Data Layer: PostgreSQL and Redis isolated via PVCs</a:t>
            </a:r>
          </a:p>
          <a:p>
            <a:pPr algn="l">
              <a:lnSpc>
                <a:spcPts val="3639"/>
              </a:lnSpc>
              <a:spcBef>
                <a:spcPct val="0"/>
              </a:spcBef>
            </a:pPr>
          </a:p>
        </p:txBody>
      </p:sp>
      <p:sp>
        <p:nvSpPr>
          <p:cNvPr name="TextBox 4" id="4"/>
          <p:cNvSpPr txBox="true"/>
          <p:nvPr/>
        </p:nvSpPr>
        <p:spPr>
          <a:xfrm rot="0">
            <a:off x="227444" y="5119298"/>
            <a:ext cx="6171682"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Backend  MicroServices:</a:t>
            </a:r>
          </a:p>
        </p:txBody>
      </p:sp>
      <p:sp>
        <p:nvSpPr>
          <p:cNvPr name="TextBox 5" id="5"/>
          <p:cNvSpPr txBox="true"/>
          <p:nvPr/>
        </p:nvSpPr>
        <p:spPr>
          <a:xfrm rot="0">
            <a:off x="257175" y="6138545"/>
            <a:ext cx="18030825" cy="4105911"/>
          </a:xfrm>
          <a:prstGeom prst="rect">
            <a:avLst/>
          </a:prstGeom>
        </p:spPr>
        <p:txBody>
          <a:bodyPr anchor="t" rtlCol="false" tIns="0" lIns="0" bIns="0" rIns="0">
            <a:spAutoFit/>
          </a:bodyPr>
          <a:lstStyle/>
          <a:p>
            <a:pPr algn="l" marL="561336" indent="-280668" lvl="1">
              <a:lnSpc>
                <a:spcPts val="3639"/>
              </a:lnSpc>
              <a:buAutoNum type="arabicPeriod" startAt="1"/>
            </a:pPr>
            <a:r>
              <a:rPr lang="en-US" sz="2599">
                <a:solidFill>
                  <a:srgbClr val="000000"/>
                </a:solidFill>
                <a:latin typeface="Raleway"/>
                <a:ea typeface="Raleway"/>
                <a:cs typeface="Raleway"/>
                <a:sym typeface="Raleway"/>
              </a:rPr>
              <a:t>Gateway - Acts as the single entry point for the application, routing incoming client requests to the appropriate backend microservices also handles rate limiting and JWT Validation</a:t>
            </a:r>
          </a:p>
          <a:p>
            <a:pPr algn="l" marL="561336" indent="-280668" lvl="1">
              <a:lnSpc>
                <a:spcPts val="3639"/>
              </a:lnSpc>
              <a:buAutoNum type="arabicPeriod" startAt="1"/>
            </a:pPr>
            <a:r>
              <a:rPr lang="en-US" sz="2599">
                <a:solidFill>
                  <a:srgbClr val="000000"/>
                </a:solidFill>
                <a:latin typeface="Raleway"/>
                <a:ea typeface="Raleway"/>
                <a:cs typeface="Raleway"/>
                <a:sym typeface="Raleway"/>
              </a:rPr>
              <a:t>A</a:t>
            </a:r>
            <a:r>
              <a:rPr lang="en-US" sz="2599">
                <a:solidFill>
                  <a:srgbClr val="000000"/>
                </a:solidFill>
                <a:latin typeface="Raleway"/>
                <a:ea typeface="Raleway"/>
                <a:cs typeface="Raleway"/>
                <a:sym typeface="Raleway"/>
              </a:rPr>
              <a:t>uth-service -  Handles user registration, authentication, authorization.</a:t>
            </a:r>
          </a:p>
          <a:p>
            <a:pPr algn="l" marL="561336" indent="-280668" lvl="1">
              <a:lnSpc>
                <a:spcPts val="3639"/>
              </a:lnSpc>
              <a:buAutoNum type="arabicPeriod" startAt="1"/>
            </a:pPr>
            <a:r>
              <a:rPr lang="en-US" sz="2599">
                <a:solidFill>
                  <a:srgbClr val="000000"/>
                </a:solidFill>
                <a:latin typeface="Raleway"/>
                <a:ea typeface="Raleway"/>
                <a:cs typeface="Raleway"/>
                <a:sym typeface="Raleway"/>
              </a:rPr>
              <a:t>P</a:t>
            </a:r>
            <a:r>
              <a:rPr lang="en-US" sz="2599">
                <a:solidFill>
                  <a:srgbClr val="000000"/>
                </a:solidFill>
                <a:latin typeface="Raleway"/>
                <a:ea typeface="Raleway"/>
                <a:cs typeface="Raleway"/>
                <a:sym typeface="Raleway"/>
              </a:rPr>
              <a:t>roject-service - Manages the complete lifecycle, metadata, and configuration of projects created within the system.</a:t>
            </a:r>
          </a:p>
          <a:p>
            <a:pPr algn="l" marL="561336" indent="-280668" lvl="1">
              <a:lnSpc>
                <a:spcPts val="3639"/>
              </a:lnSpc>
              <a:buAutoNum type="arabicPeriod" startAt="1"/>
            </a:pPr>
            <a:r>
              <a:rPr lang="en-US" sz="2599">
                <a:solidFill>
                  <a:srgbClr val="000000"/>
                </a:solidFill>
                <a:latin typeface="Raleway"/>
                <a:ea typeface="Raleway"/>
                <a:cs typeface="Raleway"/>
                <a:sym typeface="Raleway"/>
              </a:rPr>
              <a:t>T</a:t>
            </a:r>
            <a:r>
              <a:rPr lang="en-US" sz="2599">
                <a:solidFill>
                  <a:srgbClr val="000000"/>
                </a:solidFill>
                <a:latin typeface="Raleway"/>
                <a:ea typeface="Raleway"/>
                <a:cs typeface="Raleway"/>
                <a:sym typeface="Raleway"/>
              </a:rPr>
              <a:t>ask-service - Handles creation, assignment, status tracking, and management of individual tasks within projects.</a:t>
            </a:r>
          </a:p>
          <a:p>
            <a:pPr algn="l" marL="561336" indent="-280668" lvl="1">
              <a:lnSpc>
                <a:spcPts val="3639"/>
              </a:lnSpc>
              <a:buAutoNum type="arabicPeriod" startAt="1"/>
            </a:pPr>
            <a:r>
              <a:rPr lang="en-US" sz="2599">
                <a:solidFill>
                  <a:srgbClr val="000000"/>
                </a:solidFill>
                <a:latin typeface="Raleway"/>
                <a:ea typeface="Raleway"/>
                <a:cs typeface="Raleway"/>
                <a:sym typeface="Raleway"/>
              </a:rPr>
              <a:t>A</a:t>
            </a:r>
            <a:r>
              <a:rPr lang="en-US" sz="2599">
                <a:solidFill>
                  <a:srgbClr val="000000"/>
                </a:solidFill>
                <a:latin typeface="Raleway"/>
                <a:ea typeface="Raleway"/>
                <a:cs typeface="Raleway"/>
                <a:sym typeface="Raleway"/>
              </a:rPr>
              <a:t>nalysis-service - Processes application data to generate metrics, insights, and analytical reports regarding projects and tasks.</a:t>
            </a:r>
          </a:p>
          <a:p>
            <a:pPr algn="l">
              <a:lnSpc>
                <a:spcPts val="363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857896" y="1870637"/>
            <a:ext cx="10572208" cy="6545726"/>
          </a:xfrm>
          <a:custGeom>
            <a:avLst/>
            <a:gdLst/>
            <a:ahLst/>
            <a:cxnLst/>
            <a:rect r="r" b="b" t="t" l="l"/>
            <a:pathLst>
              <a:path h="6545726" w="10572208">
                <a:moveTo>
                  <a:pt x="0" y="0"/>
                </a:moveTo>
                <a:lnTo>
                  <a:pt x="10572208" y="0"/>
                </a:lnTo>
                <a:lnTo>
                  <a:pt x="10572208" y="6545726"/>
                </a:lnTo>
                <a:lnTo>
                  <a:pt x="0" y="6545726"/>
                </a:lnTo>
                <a:lnTo>
                  <a:pt x="0" y="0"/>
                </a:lnTo>
                <a:close/>
              </a:path>
            </a:pathLst>
          </a:custGeom>
          <a:blipFill>
            <a:blip r:embed="rId2"/>
            <a:stretch>
              <a:fillRect l="0" t="0" r="0" b="0"/>
            </a:stretch>
          </a:blipFill>
        </p:spPr>
      </p:sp>
      <p:sp>
        <p:nvSpPr>
          <p:cNvPr name="TextBox 3" id="3"/>
          <p:cNvSpPr txBox="true"/>
          <p:nvPr/>
        </p:nvSpPr>
        <p:spPr>
          <a:xfrm rot="0">
            <a:off x="6146744" y="180600"/>
            <a:ext cx="5348883" cy="632460"/>
          </a:xfrm>
          <a:prstGeom prst="rect">
            <a:avLst/>
          </a:prstGeom>
        </p:spPr>
        <p:txBody>
          <a:bodyPr anchor="t" rtlCol="false" tIns="0" lIns="0" bIns="0" rIns="0">
            <a:spAutoFit/>
          </a:bodyPr>
          <a:lstStyle/>
          <a:p>
            <a:pPr algn="ctr">
              <a:lnSpc>
                <a:spcPts val="5040"/>
              </a:lnSpc>
              <a:spcBef>
                <a:spcPct val="0"/>
              </a:spcBef>
            </a:pPr>
            <a:r>
              <a:rPr lang="en-US" b="true" sz="3600">
                <a:solidFill>
                  <a:srgbClr val="FF751F"/>
                </a:solidFill>
                <a:latin typeface="Raleway Bold"/>
                <a:ea typeface="Raleway Bold"/>
                <a:cs typeface="Raleway Bold"/>
                <a:sym typeface="Raleway Bold"/>
              </a:rPr>
              <a:t>Application Architecture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71043" y="813060"/>
            <a:ext cx="11100284" cy="8931103"/>
          </a:xfrm>
          <a:custGeom>
            <a:avLst/>
            <a:gdLst/>
            <a:ahLst/>
            <a:cxnLst/>
            <a:rect r="r" b="b" t="t" l="l"/>
            <a:pathLst>
              <a:path h="8931103" w="11100284">
                <a:moveTo>
                  <a:pt x="0" y="0"/>
                </a:moveTo>
                <a:lnTo>
                  <a:pt x="11100284" y="0"/>
                </a:lnTo>
                <a:lnTo>
                  <a:pt x="11100284" y="8931103"/>
                </a:lnTo>
                <a:lnTo>
                  <a:pt x="0" y="8931103"/>
                </a:lnTo>
                <a:lnTo>
                  <a:pt x="0" y="0"/>
                </a:lnTo>
                <a:close/>
              </a:path>
            </a:pathLst>
          </a:custGeom>
          <a:blipFill>
            <a:blip r:embed="rId2"/>
            <a:stretch>
              <a:fillRect l="0" t="0" r="0" b="0"/>
            </a:stretch>
          </a:blipFill>
        </p:spPr>
      </p:sp>
      <p:sp>
        <p:nvSpPr>
          <p:cNvPr name="TextBox 3" id="3"/>
          <p:cNvSpPr txBox="true"/>
          <p:nvPr/>
        </p:nvSpPr>
        <p:spPr>
          <a:xfrm rot="0">
            <a:off x="4080108" y="-85725"/>
            <a:ext cx="8707398" cy="632460"/>
          </a:xfrm>
          <a:prstGeom prst="rect">
            <a:avLst/>
          </a:prstGeom>
        </p:spPr>
        <p:txBody>
          <a:bodyPr anchor="t" rtlCol="false" tIns="0" lIns="0" bIns="0" rIns="0">
            <a:spAutoFit/>
          </a:bodyPr>
          <a:lstStyle/>
          <a:p>
            <a:pPr algn="ctr">
              <a:lnSpc>
                <a:spcPts val="5040"/>
              </a:lnSpc>
              <a:spcBef>
                <a:spcPct val="0"/>
              </a:spcBef>
            </a:pPr>
            <a:r>
              <a:rPr lang="en-US" b="true" sz="3600">
                <a:solidFill>
                  <a:srgbClr val="FF751F"/>
                </a:solidFill>
                <a:latin typeface="Raleway Bold"/>
                <a:ea typeface="Raleway Bold"/>
                <a:cs typeface="Raleway Bold"/>
                <a:sym typeface="Raleway Bold"/>
              </a:rPr>
              <a:t>Devops Architecture with CI CD Pipeline</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6048106" y="2354386"/>
          <a:ext cx="5635949" cy="5559229"/>
        </p:xfrm>
        <a:graphic>
          <a:graphicData uri="http://schemas.openxmlformats.org/drawingml/2006/table">
            <a:tbl>
              <a:tblPr/>
              <a:tblGrid>
                <a:gridCol w="2925224"/>
                <a:gridCol w="2710725"/>
              </a:tblGrid>
              <a:tr h="1026208">
                <a:tc>
                  <a:txBody>
                    <a:bodyPr anchor="t" rtlCol="false"/>
                    <a:lstStyle/>
                    <a:p>
                      <a:pPr algn="ctr">
                        <a:lnSpc>
                          <a:spcPts val="2659"/>
                        </a:lnSpc>
                        <a:defRPr/>
                      </a:pPr>
                      <a:r>
                        <a:rPr lang="en-US" sz="1899">
                          <a:solidFill>
                            <a:srgbClr val="000000"/>
                          </a:solidFill>
                          <a:latin typeface="Raleway"/>
                          <a:ea typeface="Raleway"/>
                          <a:cs typeface="Raleway"/>
                          <a:sym typeface="Raleway"/>
                        </a:rPr>
                        <a:t>Frontend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Raleway"/>
                          <a:ea typeface="Raleway"/>
                          <a:cs typeface="Raleway"/>
                          <a:sym typeface="Raleway"/>
                        </a:rPr>
                        <a:t>3000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208">
                <a:tc>
                  <a:txBody>
                    <a:bodyPr anchor="t" rtlCol="false"/>
                    <a:lstStyle/>
                    <a:p>
                      <a:pPr algn="ctr">
                        <a:lnSpc>
                          <a:spcPts val="2659"/>
                        </a:lnSpc>
                        <a:defRPr/>
                      </a:pPr>
                      <a:r>
                        <a:rPr lang="en-US" sz="1899">
                          <a:solidFill>
                            <a:srgbClr val="000000"/>
                          </a:solidFill>
                          <a:latin typeface="Raleway"/>
                          <a:ea typeface="Raleway"/>
                          <a:cs typeface="Raleway"/>
                          <a:sym typeface="Raleway"/>
                        </a:rPr>
                        <a:t>Gateway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Raleway"/>
                          <a:ea typeface="Raleway"/>
                          <a:cs typeface="Raleway"/>
                          <a:sym typeface="Raleway"/>
                        </a:rPr>
                        <a:t>8000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208">
                <a:tc>
                  <a:txBody>
                    <a:bodyPr anchor="t" rtlCol="false"/>
                    <a:lstStyle/>
                    <a:p>
                      <a:pPr algn="ctr">
                        <a:lnSpc>
                          <a:spcPts val="2659"/>
                        </a:lnSpc>
                        <a:defRPr/>
                      </a:pPr>
                      <a:r>
                        <a:rPr lang="en-US" sz="1899">
                          <a:solidFill>
                            <a:srgbClr val="000000"/>
                          </a:solidFill>
                          <a:latin typeface="Raleway"/>
                          <a:ea typeface="Raleway"/>
                          <a:cs typeface="Raleway"/>
                          <a:sym typeface="Raleway"/>
                        </a:rPr>
                        <a:t>Auth-Service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Raleway"/>
                          <a:ea typeface="Raleway"/>
                          <a:cs typeface="Raleway"/>
                          <a:sym typeface="Raleway"/>
                        </a:rPr>
                        <a:t>8001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05621">
                <a:tc>
                  <a:txBody>
                    <a:bodyPr anchor="t" rtlCol="false"/>
                    <a:lstStyle/>
                    <a:p>
                      <a:pPr algn="ctr">
                        <a:lnSpc>
                          <a:spcPts val="2659"/>
                        </a:lnSpc>
                        <a:defRPr/>
                      </a:pPr>
                      <a:r>
                        <a:rPr lang="en-US" sz="1899">
                          <a:solidFill>
                            <a:srgbClr val="000000"/>
                          </a:solidFill>
                          <a:latin typeface="Raleway"/>
                          <a:ea typeface="Raleway"/>
                          <a:cs typeface="Raleway"/>
                          <a:sym typeface="Raleway"/>
                        </a:rPr>
                        <a:t>Project-Service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Raleway"/>
                          <a:ea typeface="Raleway"/>
                          <a:cs typeface="Raleway"/>
                          <a:sym typeface="Raleway"/>
                        </a:rPr>
                        <a:t>8002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05621">
                <a:tc>
                  <a:txBody>
                    <a:bodyPr anchor="t" rtlCol="false"/>
                    <a:lstStyle/>
                    <a:p>
                      <a:pPr algn="ctr">
                        <a:lnSpc>
                          <a:spcPts val="2659"/>
                        </a:lnSpc>
                        <a:defRPr/>
                      </a:pPr>
                      <a:r>
                        <a:rPr lang="en-US" sz="1899">
                          <a:solidFill>
                            <a:srgbClr val="000000"/>
                          </a:solidFill>
                          <a:latin typeface="Raleway"/>
                          <a:ea typeface="Raleway"/>
                          <a:cs typeface="Raleway"/>
                          <a:sym typeface="Raleway"/>
                        </a:rPr>
                        <a:t>Task-Service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Raleway"/>
                          <a:ea typeface="Raleway"/>
                          <a:cs typeface="Raleway"/>
                          <a:sym typeface="Raleway"/>
                        </a:rPr>
                        <a:t>8003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69362">
                <a:tc>
                  <a:txBody>
                    <a:bodyPr anchor="t" rtlCol="false"/>
                    <a:lstStyle/>
                    <a:p>
                      <a:pPr algn="ctr">
                        <a:lnSpc>
                          <a:spcPts val="2659"/>
                        </a:lnSpc>
                        <a:defRPr/>
                      </a:pPr>
                      <a:r>
                        <a:rPr lang="en-US" sz="1899">
                          <a:solidFill>
                            <a:srgbClr val="000000"/>
                          </a:solidFill>
                          <a:latin typeface="Raleway"/>
                          <a:ea typeface="Raleway"/>
                          <a:cs typeface="Raleway"/>
                          <a:sym typeface="Raleway"/>
                        </a:rPr>
                        <a:t>Analysis-Service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Raleway"/>
                          <a:ea typeface="Raleway"/>
                          <a:cs typeface="Raleway"/>
                          <a:sym typeface="Raleway"/>
                        </a:rPr>
                        <a:t>8004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6943417" y="971550"/>
            <a:ext cx="3368159" cy="504826"/>
          </a:xfrm>
          <a:prstGeom prst="rect">
            <a:avLst/>
          </a:prstGeom>
        </p:spPr>
        <p:txBody>
          <a:bodyPr anchor="t" rtlCol="false" tIns="0" lIns="0" bIns="0" rIns="0">
            <a:spAutoFit/>
          </a:bodyPr>
          <a:lstStyle/>
          <a:p>
            <a:pPr algn="ctr">
              <a:lnSpc>
                <a:spcPts val="4199"/>
              </a:lnSpc>
              <a:spcBef>
                <a:spcPct val="0"/>
              </a:spcBef>
            </a:pPr>
            <a:r>
              <a:rPr lang="en-US" b="true" sz="2999">
                <a:solidFill>
                  <a:srgbClr val="FF751F"/>
                </a:solidFill>
                <a:latin typeface="Raleway Bold"/>
                <a:ea typeface="Raleway Bold"/>
                <a:cs typeface="Raleway Bold"/>
                <a:sym typeface="Raleway Bold"/>
              </a:rPr>
              <a:t>Services and Ports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8857" y="2750400"/>
            <a:ext cx="8460176" cy="4786200"/>
          </a:xfrm>
          <a:custGeom>
            <a:avLst/>
            <a:gdLst/>
            <a:ahLst/>
            <a:cxnLst/>
            <a:rect r="r" b="b" t="t" l="l"/>
            <a:pathLst>
              <a:path h="4786200" w="8460176">
                <a:moveTo>
                  <a:pt x="0" y="0"/>
                </a:moveTo>
                <a:lnTo>
                  <a:pt x="8460176" y="0"/>
                </a:lnTo>
                <a:lnTo>
                  <a:pt x="8460176" y="4786200"/>
                </a:lnTo>
                <a:lnTo>
                  <a:pt x="0" y="4786200"/>
                </a:lnTo>
                <a:lnTo>
                  <a:pt x="0" y="0"/>
                </a:lnTo>
                <a:close/>
              </a:path>
            </a:pathLst>
          </a:custGeom>
          <a:blipFill>
            <a:blip r:embed="rId2"/>
            <a:stretch>
              <a:fillRect l="0" t="-158" r="0" b="-158"/>
            </a:stretch>
          </a:blipFill>
        </p:spPr>
      </p:sp>
      <p:sp>
        <p:nvSpPr>
          <p:cNvPr name="Freeform 3" id="3"/>
          <p:cNvSpPr/>
          <p:nvPr/>
        </p:nvSpPr>
        <p:spPr>
          <a:xfrm flipH="false" flipV="false" rot="0">
            <a:off x="9144000" y="2148731"/>
            <a:ext cx="7868031" cy="5989538"/>
          </a:xfrm>
          <a:custGeom>
            <a:avLst/>
            <a:gdLst/>
            <a:ahLst/>
            <a:cxnLst/>
            <a:rect r="r" b="b" t="t" l="l"/>
            <a:pathLst>
              <a:path h="5989538" w="7868031">
                <a:moveTo>
                  <a:pt x="0" y="0"/>
                </a:moveTo>
                <a:lnTo>
                  <a:pt x="7868031" y="0"/>
                </a:lnTo>
                <a:lnTo>
                  <a:pt x="7868031" y="5989538"/>
                </a:lnTo>
                <a:lnTo>
                  <a:pt x="0" y="5989538"/>
                </a:lnTo>
                <a:lnTo>
                  <a:pt x="0" y="0"/>
                </a:lnTo>
                <a:close/>
              </a:path>
            </a:pathLst>
          </a:custGeom>
          <a:blipFill>
            <a:blip r:embed="rId3"/>
            <a:stretch>
              <a:fillRect l="0" t="0" r="0" b="0"/>
            </a:stretch>
          </a:blipFill>
        </p:spPr>
      </p:sp>
      <p:sp>
        <p:nvSpPr>
          <p:cNvPr name="TextBox 4" id="4"/>
          <p:cNvSpPr txBox="true"/>
          <p:nvPr/>
        </p:nvSpPr>
        <p:spPr>
          <a:xfrm rot="0">
            <a:off x="7197150" y="460372"/>
            <a:ext cx="2579132"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DockerFiles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217115"/>
            <a:ext cx="3609179" cy="6115554"/>
          </a:xfrm>
          <a:custGeom>
            <a:avLst/>
            <a:gdLst/>
            <a:ahLst/>
            <a:cxnLst/>
            <a:rect r="r" b="b" t="t" l="l"/>
            <a:pathLst>
              <a:path h="6115554" w="3609179">
                <a:moveTo>
                  <a:pt x="0" y="0"/>
                </a:moveTo>
                <a:lnTo>
                  <a:pt x="3609179" y="0"/>
                </a:lnTo>
                <a:lnTo>
                  <a:pt x="3609179" y="6115554"/>
                </a:lnTo>
                <a:lnTo>
                  <a:pt x="0" y="6115554"/>
                </a:lnTo>
                <a:lnTo>
                  <a:pt x="0" y="0"/>
                </a:lnTo>
                <a:close/>
              </a:path>
            </a:pathLst>
          </a:custGeom>
          <a:blipFill>
            <a:blip r:embed="rId2"/>
            <a:stretch>
              <a:fillRect l="0" t="0" r="0" b="0"/>
            </a:stretch>
          </a:blipFill>
        </p:spPr>
      </p:sp>
      <p:sp>
        <p:nvSpPr>
          <p:cNvPr name="Freeform 3" id="3"/>
          <p:cNvSpPr/>
          <p:nvPr/>
        </p:nvSpPr>
        <p:spPr>
          <a:xfrm flipH="false" flipV="false" rot="0">
            <a:off x="5651123" y="3362219"/>
            <a:ext cx="4996579" cy="2926385"/>
          </a:xfrm>
          <a:custGeom>
            <a:avLst/>
            <a:gdLst/>
            <a:ahLst/>
            <a:cxnLst/>
            <a:rect r="r" b="b" t="t" l="l"/>
            <a:pathLst>
              <a:path h="2926385" w="4996579">
                <a:moveTo>
                  <a:pt x="0" y="0"/>
                </a:moveTo>
                <a:lnTo>
                  <a:pt x="4996578" y="0"/>
                </a:lnTo>
                <a:lnTo>
                  <a:pt x="4996578" y="2926385"/>
                </a:lnTo>
                <a:lnTo>
                  <a:pt x="0" y="2926385"/>
                </a:lnTo>
                <a:lnTo>
                  <a:pt x="0" y="0"/>
                </a:lnTo>
                <a:close/>
              </a:path>
            </a:pathLst>
          </a:custGeom>
          <a:blipFill>
            <a:blip r:embed="rId3"/>
            <a:stretch>
              <a:fillRect l="0" t="0" r="0" b="0"/>
            </a:stretch>
          </a:blipFill>
        </p:spPr>
      </p:sp>
      <p:sp>
        <p:nvSpPr>
          <p:cNvPr name="Freeform 4" id="4"/>
          <p:cNvSpPr/>
          <p:nvPr/>
        </p:nvSpPr>
        <p:spPr>
          <a:xfrm flipH="false" flipV="false" rot="0">
            <a:off x="11657351" y="3362219"/>
            <a:ext cx="4958202" cy="2881117"/>
          </a:xfrm>
          <a:custGeom>
            <a:avLst/>
            <a:gdLst/>
            <a:ahLst/>
            <a:cxnLst/>
            <a:rect r="r" b="b" t="t" l="l"/>
            <a:pathLst>
              <a:path h="2881117" w="4958202">
                <a:moveTo>
                  <a:pt x="0" y="0"/>
                </a:moveTo>
                <a:lnTo>
                  <a:pt x="4958202" y="0"/>
                </a:lnTo>
                <a:lnTo>
                  <a:pt x="4958202" y="2881118"/>
                </a:lnTo>
                <a:lnTo>
                  <a:pt x="0" y="2881118"/>
                </a:lnTo>
                <a:lnTo>
                  <a:pt x="0" y="0"/>
                </a:lnTo>
                <a:close/>
              </a:path>
            </a:pathLst>
          </a:custGeom>
          <a:blipFill>
            <a:blip r:embed="rId4"/>
            <a:stretch>
              <a:fillRect l="0" t="0" r="0" b="0"/>
            </a:stretch>
          </a:blipFill>
        </p:spPr>
      </p:sp>
      <p:sp>
        <p:nvSpPr>
          <p:cNvPr name="TextBox 5" id="5"/>
          <p:cNvSpPr txBox="true"/>
          <p:nvPr/>
        </p:nvSpPr>
        <p:spPr>
          <a:xfrm rot="0">
            <a:off x="5651123" y="460372"/>
            <a:ext cx="5671185"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Kubernetes Manifest Files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801772"/>
            <a:ext cx="7018987" cy="3495285"/>
          </a:xfrm>
          <a:custGeom>
            <a:avLst/>
            <a:gdLst/>
            <a:ahLst/>
            <a:cxnLst/>
            <a:rect r="r" b="b" t="t" l="l"/>
            <a:pathLst>
              <a:path h="3495285" w="7018987">
                <a:moveTo>
                  <a:pt x="0" y="0"/>
                </a:moveTo>
                <a:lnTo>
                  <a:pt x="7018987" y="0"/>
                </a:lnTo>
                <a:lnTo>
                  <a:pt x="7018987" y="3495285"/>
                </a:lnTo>
                <a:lnTo>
                  <a:pt x="0" y="3495285"/>
                </a:lnTo>
                <a:lnTo>
                  <a:pt x="0" y="0"/>
                </a:lnTo>
                <a:close/>
              </a:path>
            </a:pathLst>
          </a:custGeom>
          <a:blipFill>
            <a:blip r:embed="rId2"/>
            <a:stretch>
              <a:fillRect l="0" t="0" r="0" b="0"/>
            </a:stretch>
          </a:blipFill>
        </p:spPr>
      </p:sp>
      <p:sp>
        <p:nvSpPr>
          <p:cNvPr name="TextBox 3" id="3"/>
          <p:cNvSpPr txBox="true"/>
          <p:nvPr/>
        </p:nvSpPr>
        <p:spPr>
          <a:xfrm rot="0">
            <a:off x="6661606" y="460372"/>
            <a:ext cx="3650218"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Security Aspects</a:t>
            </a:r>
          </a:p>
        </p:txBody>
      </p:sp>
      <p:sp>
        <p:nvSpPr>
          <p:cNvPr name="TextBox 4" id="4"/>
          <p:cNvSpPr txBox="true"/>
          <p:nvPr/>
        </p:nvSpPr>
        <p:spPr>
          <a:xfrm rot="0">
            <a:off x="8640272" y="2000551"/>
            <a:ext cx="6947475" cy="2734310"/>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Raleway Bold"/>
                <a:ea typeface="Raleway Bold"/>
                <a:cs typeface="Raleway Bold"/>
                <a:sym typeface="Raleway Bold"/>
              </a:rPr>
              <a:t>Service Accounts - </a:t>
            </a:r>
            <a:r>
              <a:rPr lang="en-US" sz="2600">
                <a:solidFill>
                  <a:srgbClr val="000000"/>
                </a:solidFill>
                <a:latin typeface="Raleway"/>
                <a:ea typeface="Raleway"/>
                <a:cs typeface="Raleway"/>
                <a:sym typeface="Raleway"/>
              </a:rPr>
              <a:t>Instead of default SA we have created a SA for each microservice and disabled injecting the token that can be used to communicate with the API Server , and we have given that the containers should run as nonroot only</a:t>
            </a:r>
          </a:p>
        </p:txBody>
      </p:sp>
      <p:sp>
        <p:nvSpPr>
          <p:cNvPr name="TextBox 5" id="5"/>
          <p:cNvSpPr txBox="true"/>
          <p:nvPr/>
        </p:nvSpPr>
        <p:spPr>
          <a:xfrm rot="0">
            <a:off x="8640272" y="5086350"/>
            <a:ext cx="6947475" cy="2277110"/>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Raleway Bold"/>
                <a:ea typeface="Raleway Bold"/>
                <a:cs typeface="Raleway Bold"/>
                <a:sym typeface="Raleway Bold"/>
              </a:rPr>
              <a:t>NetworkPolicy - </a:t>
            </a:r>
            <a:r>
              <a:rPr lang="en-US" sz="2600">
                <a:solidFill>
                  <a:srgbClr val="000000"/>
                </a:solidFill>
                <a:latin typeface="Raleway"/>
                <a:ea typeface="Raleway"/>
                <a:cs typeface="Raleway"/>
                <a:sym typeface="Raleway"/>
              </a:rPr>
              <a:t>we have implemented network policies inorder to restrict unauthorized communication in between the components in our namespace and across from other namespaces</a:t>
            </a:r>
          </a:p>
        </p:txBody>
      </p:sp>
      <p:sp>
        <p:nvSpPr>
          <p:cNvPr name="TextBox 6" id="6"/>
          <p:cNvSpPr txBox="true"/>
          <p:nvPr/>
        </p:nvSpPr>
        <p:spPr>
          <a:xfrm rot="0">
            <a:off x="8640272" y="7761217"/>
            <a:ext cx="6947475" cy="1819910"/>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Raleway Bold"/>
                <a:ea typeface="Raleway Bold"/>
                <a:cs typeface="Raleway Bold"/>
                <a:sym typeface="Raleway Bold"/>
              </a:rPr>
              <a:t>Kyverno Cluster Policy - </a:t>
            </a:r>
            <a:r>
              <a:rPr lang="en-US" sz="2600">
                <a:solidFill>
                  <a:srgbClr val="000000"/>
                </a:solidFill>
                <a:latin typeface="Raleway"/>
                <a:ea typeface="Raleway"/>
                <a:cs typeface="Raleway"/>
                <a:sym typeface="Raleway"/>
              </a:rPr>
              <a:t>we have implemented cluster policy using kyverno to disallow any new resource creation using latest tag , specified tag should be given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1525" y="1946259"/>
            <a:ext cx="8365191" cy="5198579"/>
          </a:xfrm>
          <a:custGeom>
            <a:avLst/>
            <a:gdLst/>
            <a:ahLst/>
            <a:cxnLst/>
            <a:rect r="r" b="b" t="t" l="l"/>
            <a:pathLst>
              <a:path h="5198579" w="8365191">
                <a:moveTo>
                  <a:pt x="0" y="0"/>
                </a:moveTo>
                <a:lnTo>
                  <a:pt x="8365190" y="0"/>
                </a:lnTo>
                <a:lnTo>
                  <a:pt x="8365190" y="5198579"/>
                </a:lnTo>
                <a:lnTo>
                  <a:pt x="0" y="5198579"/>
                </a:lnTo>
                <a:lnTo>
                  <a:pt x="0" y="0"/>
                </a:lnTo>
                <a:close/>
              </a:path>
            </a:pathLst>
          </a:custGeom>
          <a:blipFill>
            <a:blip r:embed="rId2"/>
            <a:stretch>
              <a:fillRect l="-33748" t="0" r="-1349" b="0"/>
            </a:stretch>
          </a:blipFill>
        </p:spPr>
      </p:sp>
      <p:sp>
        <p:nvSpPr>
          <p:cNvPr name="Freeform 3" id="3"/>
          <p:cNvSpPr/>
          <p:nvPr/>
        </p:nvSpPr>
        <p:spPr>
          <a:xfrm flipH="false" flipV="false" rot="0">
            <a:off x="8731013" y="2031018"/>
            <a:ext cx="9155571" cy="5113820"/>
          </a:xfrm>
          <a:custGeom>
            <a:avLst/>
            <a:gdLst/>
            <a:ahLst/>
            <a:cxnLst/>
            <a:rect r="r" b="b" t="t" l="l"/>
            <a:pathLst>
              <a:path h="5113820" w="9155571">
                <a:moveTo>
                  <a:pt x="0" y="0"/>
                </a:moveTo>
                <a:lnTo>
                  <a:pt x="9155571" y="0"/>
                </a:lnTo>
                <a:lnTo>
                  <a:pt x="9155571" y="5113820"/>
                </a:lnTo>
                <a:lnTo>
                  <a:pt x="0" y="5113820"/>
                </a:lnTo>
                <a:lnTo>
                  <a:pt x="0" y="0"/>
                </a:lnTo>
                <a:close/>
              </a:path>
            </a:pathLst>
          </a:custGeom>
          <a:blipFill>
            <a:blip r:embed="rId3"/>
            <a:stretch>
              <a:fillRect l="-23435" t="0" r="0" b="0"/>
            </a:stretch>
          </a:blipFill>
        </p:spPr>
      </p:sp>
      <p:sp>
        <p:nvSpPr>
          <p:cNvPr name="TextBox 4" id="4"/>
          <p:cNvSpPr txBox="true"/>
          <p:nvPr/>
        </p:nvSpPr>
        <p:spPr>
          <a:xfrm rot="0">
            <a:off x="5960388" y="460372"/>
            <a:ext cx="5052656"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Deployment Strategies</a:t>
            </a:r>
          </a:p>
        </p:txBody>
      </p:sp>
      <p:sp>
        <p:nvSpPr>
          <p:cNvPr name="TextBox 5" id="5"/>
          <p:cNvSpPr txBox="true"/>
          <p:nvPr/>
        </p:nvSpPr>
        <p:spPr>
          <a:xfrm rot="0">
            <a:off x="1951862" y="7916363"/>
            <a:ext cx="4704517" cy="632461"/>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Raleway"/>
                <a:ea typeface="Raleway"/>
                <a:cs typeface="Raleway"/>
                <a:sym typeface="Raleway"/>
              </a:rPr>
              <a:t>BlueGreen -  Frontend</a:t>
            </a:r>
          </a:p>
        </p:txBody>
      </p:sp>
      <p:sp>
        <p:nvSpPr>
          <p:cNvPr name="TextBox 6" id="6"/>
          <p:cNvSpPr txBox="true"/>
          <p:nvPr/>
        </p:nvSpPr>
        <p:spPr>
          <a:xfrm rot="0">
            <a:off x="1953767" y="8786175"/>
            <a:ext cx="4820007" cy="632461"/>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Raleway"/>
                <a:ea typeface="Raleway"/>
                <a:cs typeface="Raleway"/>
                <a:sym typeface="Raleway"/>
              </a:rPr>
              <a:t>Microservices - Canary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071250"/>
            <a:ext cx="4255495" cy="5843206"/>
          </a:xfrm>
          <a:custGeom>
            <a:avLst/>
            <a:gdLst/>
            <a:ahLst/>
            <a:cxnLst/>
            <a:rect r="r" b="b" t="t" l="l"/>
            <a:pathLst>
              <a:path h="5843206" w="4255495">
                <a:moveTo>
                  <a:pt x="0" y="0"/>
                </a:moveTo>
                <a:lnTo>
                  <a:pt x="4255495" y="0"/>
                </a:lnTo>
                <a:lnTo>
                  <a:pt x="4255495" y="5843206"/>
                </a:lnTo>
                <a:lnTo>
                  <a:pt x="0" y="5843206"/>
                </a:lnTo>
                <a:lnTo>
                  <a:pt x="0" y="0"/>
                </a:lnTo>
                <a:close/>
              </a:path>
            </a:pathLst>
          </a:custGeom>
          <a:blipFill>
            <a:blip r:embed="rId2"/>
            <a:stretch>
              <a:fillRect l="0" t="0" r="0" b="0"/>
            </a:stretch>
          </a:blipFill>
        </p:spPr>
      </p:sp>
      <p:sp>
        <p:nvSpPr>
          <p:cNvPr name="Freeform 3" id="3"/>
          <p:cNvSpPr/>
          <p:nvPr/>
        </p:nvSpPr>
        <p:spPr>
          <a:xfrm flipH="false" flipV="false" rot="0">
            <a:off x="5759766" y="2072727"/>
            <a:ext cx="2565057" cy="3070773"/>
          </a:xfrm>
          <a:custGeom>
            <a:avLst/>
            <a:gdLst/>
            <a:ahLst/>
            <a:cxnLst/>
            <a:rect r="r" b="b" t="t" l="l"/>
            <a:pathLst>
              <a:path h="3070773" w="2565057">
                <a:moveTo>
                  <a:pt x="0" y="0"/>
                </a:moveTo>
                <a:lnTo>
                  <a:pt x="2565056" y="0"/>
                </a:lnTo>
                <a:lnTo>
                  <a:pt x="2565056" y="3070773"/>
                </a:lnTo>
                <a:lnTo>
                  <a:pt x="0" y="3070773"/>
                </a:lnTo>
                <a:lnTo>
                  <a:pt x="0" y="0"/>
                </a:lnTo>
                <a:close/>
              </a:path>
            </a:pathLst>
          </a:custGeom>
          <a:blipFill>
            <a:blip r:embed="rId3"/>
            <a:stretch>
              <a:fillRect l="0" t="0" r="-28950" b="0"/>
            </a:stretch>
          </a:blipFill>
        </p:spPr>
      </p:sp>
      <p:sp>
        <p:nvSpPr>
          <p:cNvPr name="Freeform 4" id="4"/>
          <p:cNvSpPr/>
          <p:nvPr/>
        </p:nvSpPr>
        <p:spPr>
          <a:xfrm flipH="false" flipV="false" rot="0">
            <a:off x="5759766" y="5452499"/>
            <a:ext cx="2561873" cy="2917631"/>
          </a:xfrm>
          <a:custGeom>
            <a:avLst/>
            <a:gdLst/>
            <a:ahLst/>
            <a:cxnLst/>
            <a:rect r="r" b="b" t="t" l="l"/>
            <a:pathLst>
              <a:path h="2917631" w="2561873">
                <a:moveTo>
                  <a:pt x="0" y="0"/>
                </a:moveTo>
                <a:lnTo>
                  <a:pt x="2561873" y="0"/>
                </a:lnTo>
                <a:lnTo>
                  <a:pt x="2561873" y="2917632"/>
                </a:lnTo>
                <a:lnTo>
                  <a:pt x="0" y="2917632"/>
                </a:lnTo>
                <a:lnTo>
                  <a:pt x="0" y="0"/>
                </a:lnTo>
                <a:close/>
              </a:path>
            </a:pathLst>
          </a:custGeom>
          <a:blipFill>
            <a:blip r:embed="rId4"/>
            <a:stretch>
              <a:fillRect l="0" t="0" r="-21855" b="0"/>
            </a:stretch>
          </a:blipFill>
        </p:spPr>
      </p:sp>
      <p:sp>
        <p:nvSpPr>
          <p:cNvPr name="Freeform 5" id="5"/>
          <p:cNvSpPr/>
          <p:nvPr/>
        </p:nvSpPr>
        <p:spPr>
          <a:xfrm flipH="false" flipV="false" rot="0">
            <a:off x="8592923" y="3326395"/>
            <a:ext cx="3701247" cy="3332915"/>
          </a:xfrm>
          <a:custGeom>
            <a:avLst/>
            <a:gdLst/>
            <a:ahLst/>
            <a:cxnLst/>
            <a:rect r="r" b="b" t="t" l="l"/>
            <a:pathLst>
              <a:path h="3332915" w="3701247">
                <a:moveTo>
                  <a:pt x="0" y="0"/>
                </a:moveTo>
                <a:lnTo>
                  <a:pt x="3701247" y="0"/>
                </a:lnTo>
                <a:lnTo>
                  <a:pt x="3701247" y="3332916"/>
                </a:lnTo>
                <a:lnTo>
                  <a:pt x="0" y="3332916"/>
                </a:lnTo>
                <a:lnTo>
                  <a:pt x="0" y="0"/>
                </a:lnTo>
                <a:close/>
              </a:path>
            </a:pathLst>
          </a:custGeom>
          <a:blipFill>
            <a:blip r:embed="rId5"/>
            <a:stretch>
              <a:fillRect l="0" t="0" r="-27909" b="0"/>
            </a:stretch>
          </a:blipFill>
        </p:spPr>
      </p:sp>
      <p:sp>
        <p:nvSpPr>
          <p:cNvPr name="Freeform 6" id="6"/>
          <p:cNvSpPr/>
          <p:nvPr/>
        </p:nvSpPr>
        <p:spPr>
          <a:xfrm flipH="false" flipV="false" rot="0">
            <a:off x="12770420" y="1977698"/>
            <a:ext cx="3923953" cy="5936758"/>
          </a:xfrm>
          <a:custGeom>
            <a:avLst/>
            <a:gdLst/>
            <a:ahLst/>
            <a:cxnLst/>
            <a:rect r="r" b="b" t="t" l="l"/>
            <a:pathLst>
              <a:path h="5936758" w="3923953">
                <a:moveTo>
                  <a:pt x="0" y="0"/>
                </a:moveTo>
                <a:lnTo>
                  <a:pt x="3923953" y="0"/>
                </a:lnTo>
                <a:lnTo>
                  <a:pt x="3923953" y="5936758"/>
                </a:lnTo>
                <a:lnTo>
                  <a:pt x="0" y="5936758"/>
                </a:lnTo>
                <a:lnTo>
                  <a:pt x="0" y="0"/>
                </a:lnTo>
                <a:close/>
              </a:path>
            </a:pathLst>
          </a:custGeom>
          <a:blipFill>
            <a:blip r:embed="rId6"/>
            <a:stretch>
              <a:fillRect l="0" t="0" r="0" b="0"/>
            </a:stretch>
          </a:blipFill>
        </p:spPr>
      </p:sp>
      <p:sp>
        <p:nvSpPr>
          <p:cNvPr name="TextBox 7" id="7"/>
          <p:cNvSpPr txBox="true"/>
          <p:nvPr/>
        </p:nvSpPr>
        <p:spPr>
          <a:xfrm rot="0">
            <a:off x="6181427" y="460372"/>
            <a:ext cx="4610576"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Helm Charts - GitOps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74330" y="2827633"/>
            <a:ext cx="4700217" cy="3806440"/>
          </a:xfrm>
          <a:custGeom>
            <a:avLst/>
            <a:gdLst/>
            <a:ahLst/>
            <a:cxnLst/>
            <a:rect r="r" b="b" t="t" l="l"/>
            <a:pathLst>
              <a:path h="3806440" w="4700217">
                <a:moveTo>
                  <a:pt x="0" y="0"/>
                </a:moveTo>
                <a:lnTo>
                  <a:pt x="4700217" y="0"/>
                </a:lnTo>
                <a:lnTo>
                  <a:pt x="4700217" y="3806440"/>
                </a:lnTo>
                <a:lnTo>
                  <a:pt x="0" y="3806440"/>
                </a:lnTo>
                <a:lnTo>
                  <a:pt x="0" y="0"/>
                </a:lnTo>
                <a:close/>
              </a:path>
            </a:pathLst>
          </a:custGeom>
          <a:blipFill>
            <a:blip r:embed="rId2"/>
            <a:stretch>
              <a:fillRect l="0" t="0" r="0" b="0"/>
            </a:stretch>
          </a:blipFill>
        </p:spPr>
      </p:sp>
      <p:sp>
        <p:nvSpPr>
          <p:cNvPr name="Freeform 3" id="3"/>
          <p:cNvSpPr/>
          <p:nvPr/>
        </p:nvSpPr>
        <p:spPr>
          <a:xfrm flipH="false" flipV="false" rot="0">
            <a:off x="10169402" y="2588422"/>
            <a:ext cx="5980951" cy="4284861"/>
          </a:xfrm>
          <a:custGeom>
            <a:avLst/>
            <a:gdLst/>
            <a:ahLst/>
            <a:cxnLst/>
            <a:rect r="r" b="b" t="t" l="l"/>
            <a:pathLst>
              <a:path h="4284861" w="5980951">
                <a:moveTo>
                  <a:pt x="0" y="0"/>
                </a:moveTo>
                <a:lnTo>
                  <a:pt x="5980951" y="0"/>
                </a:lnTo>
                <a:lnTo>
                  <a:pt x="5980951" y="4284861"/>
                </a:lnTo>
                <a:lnTo>
                  <a:pt x="0" y="4284861"/>
                </a:lnTo>
                <a:lnTo>
                  <a:pt x="0" y="0"/>
                </a:lnTo>
                <a:close/>
              </a:path>
            </a:pathLst>
          </a:custGeom>
          <a:blipFill>
            <a:blip r:embed="rId3"/>
            <a:stretch>
              <a:fillRect l="0" t="0" r="0" b="0"/>
            </a:stretch>
          </a:blipFill>
        </p:spPr>
      </p:sp>
      <p:sp>
        <p:nvSpPr>
          <p:cNvPr name="TextBox 4" id="4"/>
          <p:cNvSpPr txBox="true"/>
          <p:nvPr/>
        </p:nvSpPr>
        <p:spPr>
          <a:xfrm rot="0">
            <a:off x="6374547" y="460372"/>
            <a:ext cx="4224338"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Branching Strategy</a:t>
            </a:r>
          </a:p>
        </p:txBody>
      </p:sp>
      <p:sp>
        <p:nvSpPr>
          <p:cNvPr name="TextBox 5" id="5"/>
          <p:cNvSpPr txBox="true"/>
          <p:nvPr/>
        </p:nvSpPr>
        <p:spPr>
          <a:xfrm rot="0">
            <a:off x="2000430" y="1698195"/>
            <a:ext cx="2837974"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000000"/>
                </a:solidFill>
                <a:latin typeface="Raleway Bold"/>
                <a:ea typeface="Raleway Bold"/>
                <a:cs typeface="Raleway Bold"/>
                <a:sym typeface="Raleway Bold"/>
              </a:rPr>
              <a:t>Trunk Based </a:t>
            </a:r>
          </a:p>
        </p:txBody>
      </p:sp>
      <p:sp>
        <p:nvSpPr>
          <p:cNvPr name="TextBox 6" id="6"/>
          <p:cNvSpPr txBox="true"/>
          <p:nvPr/>
        </p:nvSpPr>
        <p:spPr>
          <a:xfrm rot="0">
            <a:off x="9144000" y="1698195"/>
            <a:ext cx="7274910"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000000"/>
                </a:solidFill>
                <a:latin typeface="Raleway Bold"/>
                <a:ea typeface="Raleway Bold"/>
                <a:cs typeface="Raleway Bold"/>
                <a:sym typeface="Raleway Bold"/>
              </a:rPr>
              <a:t>Branch Protection</a:t>
            </a:r>
          </a:p>
        </p:txBody>
      </p:sp>
      <p:sp>
        <p:nvSpPr>
          <p:cNvPr name="TextBox 7" id="7"/>
          <p:cNvSpPr txBox="true"/>
          <p:nvPr/>
        </p:nvSpPr>
        <p:spPr>
          <a:xfrm rot="0">
            <a:off x="5481102" y="7344148"/>
            <a:ext cx="6011228" cy="2193925"/>
          </a:xfrm>
          <a:prstGeom prst="rect">
            <a:avLst/>
          </a:prstGeom>
        </p:spPr>
        <p:txBody>
          <a:bodyPr anchor="t" rtlCol="false" tIns="0" lIns="0" bIns="0" rIns="0">
            <a:spAutoFit/>
          </a:bodyPr>
          <a:lstStyle/>
          <a:p>
            <a:pPr algn="l">
              <a:lnSpc>
                <a:spcPts val="3500"/>
              </a:lnSpc>
              <a:spcBef>
                <a:spcPct val="0"/>
              </a:spcBef>
            </a:pPr>
            <a:r>
              <a:rPr lang="en-US" b="true" sz="2500">
                <a:solidFill>
                  <a:srgbClr val="000000"/>
                </a:solidFill>
                <a:latin typeface="Raleway Bold"/>
                <a:ea typeface="Raleway Bold"/>
                <a:cs typeface="Raleway Bold"/>
                <a:sym typeface="Raleway Bold"/>
              </a:rPr>
              <a:t>•N</a:t>
            </a:r>
            <a:r>
              <a:rPr lang="en-US" b="true" sz="2500">
                <a:solidFill>
                  <a:srgbClr val="000000"/>
                </a:solidFill>
                <a:latin typeface="Raleway Bold"/>
                <a:ea typeface="Raleway Bold"/>
                <a:cs typeface="Raleway Bold"/>
                <a:sym typeface="Raleway Bold"/>
              </a:rPr>
              <a:t>o direct pushes to prod branch</a:t>
            </a:r>
          </a:p>
          <a:p>
            <a:pPr algn="l">
              <a:lnSpc>
                <a:spcPts val="3500"/>
              </a:lnSpc>
              <a:spcBef>
                <a:spcPct val="0"/>
              </a:spcBef>
            </a:pPr>
            <a:r>
              <a:rPr lang="en-US" b="true" sz="2500">
                <a:solidFill>
                  <a:srgbClr val="000000"/>
                </a:solidFill>
                <a:latin typeface="Raleway Bold"/>
                <a:ea typeface="Raleway Bold"/>
                <a:cs typeface="Raleway Bold"/>
                <a:sym typeface="Raleway Bold"/>
              </a:rPr>
              <a:t>•Pull request required before merge</a:t>
            </a:r>
          </a:p>
          <a:p>
            <a:pPr algn="l">
              <a:lnSpc>
                <a:spcPts val="3500"/>
              </a:lnSpc>
              <a:spcBef>
                <a:spcPct val="0"/>
              </a:spcBef>
            </a:pPr>
            <a:r>
              <a:rPr lang="en-US" b="true" sz="2500">
                <a:solidFill>
                  <a:srgbClr val="000000"/>
                </a:solidFill>
                <a:latin typeface="Raleway Bold"/>
                <a:ea typeface="Raleway Bold"/>
                <a:cs typeface="Raleway Bold"/>
                <a:sym typeface="Raleway Bold"/>
              </a:rPr>
              <a:t>•At least one approval required</a:t>
            </a:r>
          </a:p>
          <a:p>
            <a:pPr algn="l">
              <a:lnSpc>
                <a:spcPts val="3500"/>
              </a:lnSpc>
              <a:spcBef>
                <a:spcPct val="0"/>
              </a:spcBef>
            </a:pPr>
            <a:r>
              <a:rPr lang="en-US" b="true" sz="2500">
                <a:solidFill>
                  <a:srgbClr val="000000"/>
                </a:solidFill>
                <a:latin typeface="Raleway Bold"/>
                <a:ea typeface="Raleway Bold"/>
                <a:cs typeface="Raleway Bold"/>
                <a:sym typeface="Raleway Bold"/>
              </a:rPr>
              <a:t>•Status checks must pass before merge</a:t>
            </a:r>
          </a:p>
          <a:p>
            <a:pPr algn="l">
              <a:lnSpc>
                <a:spcPts val="350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56166" y="2268625"/>
            <a:ext cx="8109107" cy="7260432"/>
          </a:xfrm>
          <a:custGeom>
            <a:avLst/>
            <a:gdLst/>
            <a:ahLst/>
            <a:cxnLst/>
            <a:rect r="r" b="b" t="t" l="l"/>
            <a:pathLst>
              <a:path h="7260432" w="8109107">
                <a:moveTo>
                  <a:pt x="0" y="0"/>
                </a:moveTo>
                <a:lnTo>
                  <a:pt x="8109108" y="0"/>
                </a:lnTo>
                <a:lnTo>
                  <a:pt x="8109108" y="7260431"/>
                </a:lnTo>
                <a:lnTo>
                  <a:pt x="0" y="7260431"/>
                </a:lnTo>
                <a:lnTo>
                  <a:pt x="0" y="0"/>
                </a:lnTo>
                <a:close/>
              </a:path>
            </a:pathLst>
          </a:custGeom>
          <a:blipFill>
            <a:blip r:embed="rId2"/>
            <a:stretch>
              <a:fillRect l="-1455" t="0" r="0" b="0"/>
            </a:stretch>
          </a:blipFill>
        </p:spPr>
      </p:sp>
      <p:sp>
        <p:nvSpPr>
          <p:cNvPr name="Freeform 3" id="3"/>
          <p:cNvSpPr/>
          <p:nvPr/>
        </p:nvSpPr>
        <p:spPr>
          <a:xfrm flipH="false" flipV="false" rot="0">
            <a:off x="8615366" y="2126994"/>
            <a:ext cx="8388497" cy="3460255"/>
          </a:xfrm>
          <a:custGeom>
            <a:avLst/>
            <a:gdLst/>
            <a:ahLst/>
            <a:cxnLst/>
            <a:rect r="r" b="b" t="t" l="l"/>
            <a:pathLst>
              <a:path h="3460255" w="8388497">
                <a:moveTo>
                  <a:pt x="0" y="0"/>
                </a:moveTo>
                <a:lnTo>
                  <a:pt x="8388497" y="0"/>
                </a:lnTo>
                <a:lnTo>
                  <a:pt x="8388497" y="3460255"/>
                </a:lnTo>
                <a:lnTo>
                  <a:pt x="0" y="3460255"/>
                </a:lnTo>
                <a:lnTo>
                  <a:pt x="0" y="0"/>
                </a:lnTo>
                <a:close/>
              </a:path>
            </a:pathLst>
          </a:custGeom>
          <a:blipFill>
            <a:blip r:embed="rId3"/>
            <a:stretch>
              <a:fillRect l="0" t="0" r="0" b="0"/>
            </a:stretch>
          </a:blipFill>
        </p:spPr>
      </p:sp>
      <p:sp>
        <p:nvSpPr>
          <p:cNvPr name="Freeform 4" id="4"/>
          <p:cNvSpPr/>
          <p:nvPr/>
        </p:nvSpPr>
        <p:spPr>
          <a:xfrm flipH="false" flipV="false" rot="0">
            <a:off x="8740021" y="5963024"/>
            <a:ext cx="8139186" cy="3566032"/>
          </a:xfrm>
          <a:custGeom>
            <a:avLst/>
            <a:gdLst/>
            <a:ahLst/>
            <a:cxnLst/>
            <a:rect r="r" b="b" t="t" l="l"/>
            <a:pathLst>
              <a:path h="3566032" w="8139186">
                <a:moveTo>
                  <a:pt x="0" y="0"/>
                </a:moveTo>
                <a:lnTo>
                  <a:pt x="8139187" y="0"/>
                </a:lnTo>
                <a:lnTo>
                  <a:pt x="8139187" y="3566032"/>
                </a:lnTo>
                <a:lnTo>
                  <a:pt x="0" y="3566032"/>
                </a:lnTo>
                <a:lnTo>
                  <a:pt x="0" y="0"/>
                </a:lnTo>
                <a:close/>
              </a:path>
            </a:pathLst>
          </a:custGeom>
          <a:blipFill>
            <a:blip r:embed="rId4"/>
            <a:stretch>
              <a:fillRect l="0" t="0" r="0" b="0"/>
            </a:stretch>
          </a:blipFill>
        </p:spPr>
      </p:sp>
      <p:sp>
        <p:nvSpPr>
          <p:cNvPr name="TextBox 5" id="5"/>
          <p:cNvSpPr txBox="true"/>
          <p:nvPr/>
        </p:nvSpPr>
        <p:spPr>
          <a:xfrm rot="0">
            <a:off x="6240650" y="669607"/>
            <a:ext cx="4449247"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Secret Management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1865" y="819465"/>
            <a:ext cx="3901628" cy="9073554"/>
          </a:xfrm>
          <a:custGeom>
            <a:avLst/>
            <a:gdLst/>
            <a:ahLst/>
            <a:cxnLst/>
            <a:rect r="r" b="b" t="t" l="l"/>
            <a:pathLst>
              <a:path h="9073554" w="3901628">
                <a:moveTo>
                  <a:pt x="0" y="0"/>
                </a:moveTo>
                <a:lnTo>
                  <a:pt x="3901629" y="0"/>
                </a:lnTo>
                <a:lnTo>
                  <a:pt x="3901629" y="9073554"/>
                </a:lnTo>
                <a:lnTo>
                  <a:pt x="0" y="9073554"/>
                </a:lnTo>
                <a:lnTo>
                  <a:pt x="0" y="0"/>
                </a:lnTo>
                <a:close/>
              </a:path>
            </a:pathLst>
          </a:custGeom>
          <a:blipFill>
            <a:blip r:embed="rId2"/>
            <a:stretch>
              <a:fillRect l="0" t="0" r="0" b="0"/>
            </a:stretch>
          </a:blipFill>
        </p:spPr>
      </p:sp>
      <p:sp>
        <p:nvSpPr>
          <p:cNvPr name="Freeform 3" id="3"/>
          <p:cNvSpPr/>
          <p:nvPr/>
        </p:nvSpPr>
        <p:spPr>
          <a:xfrm flipH="false" flipV="false" rot="0">
            <a:off x="8392225" y="2524986"/>
            <a:ext cx="3985078" cy="5237027"/>
          </a:xfrm>
          <a:custGeom>
            <a:avLst/>
            <a:gdLst/>
            <a:ahLst/>
            <a:cxnLst/>
            <a:rect r="r" b="b" t="t" l="l"/>
            <a:pathLst>
              <a:path h="5237027" w="3985078">
                <a:moveTo>
                  <a:pt x="0" y="0"/>
                </a:moveTo>
                <a:lnTo>
                  <a:pt x="3985077" y="0"/>
                </a:lnTo>
                <a:lnTo>
                  <a:pt x="3985077" y="5237028"/>
                </a:lnTo>
                <a:lnTo>
                  <a:pt x="0" y="5237028"/>
                </a:lnTo>
                <a:lnTo>
                  <a:pt x="0" y="0"/>
                </a:lnTo>
                <a:close/>
              </a:path>
            </a:pathLst>
          </a:custGeom>
          <a:blipFill>
            <a:blip r:embed="rId3"/>
            <a:stretch>
              <a:fillRect l="0" t="0" r="0" b="0"/>
            </a:stretch>
          </a:blipFill>
        </p:spPr>
      </p:sp>
      <p:sp>
        <p:nvSpPr>
          <p:cNvPr name="Freeform 4" id="4"/>
          <p:cNvSpPr/>
          <p:nvPr/>
        </p:nvSpPr>
        <p:spPr>
          <a:xfrm flipH="false" flipV="false" rot="0">
            <a:off x="4251276" y="1397638"/>
            <a:ext cx="3988548" cy="7917208"/>
          </a:xfrm>
          <a:custGeom>
            <a:avLst/>
            <a:gdLst/>
            <a:ahLst/>
            <a:cxnLst/>
            <a:rect r="r" b="b" t="t" l="l"/>
            <a:pathLst>
              <a:path h="7917208" w="3988548">
                <a:moveTo>
                  <a:pt x="0" y="0"/>
                </a:moveTo>
                <a:lnTo>
                  <a:pt x="3988549" y="0"/>
                </a:lnTo>
                <a:lnTo>
                  <a:pt x="3988549" y="7917209"/>
                </a:lnTo>
                <a:lnTo>
                  <a:pt x="0" y="7917209"/>
                </a:lnTo>
                <a:lnTo>
                  <a:pt x="0" y="0"/>
                </a:lnTo>
                <a:close/>
              </a:path>
            </a:pathLst>
          </a:custGeom>
          <a:blipFill>
            <a:blip r:embed="rId4"/>
            <a:stretch>
              <a:fillRect l="0" t="0" r="0" b="0"/>
            </a:stretch>
          </a:blipFill>
        </p:spPr>
      </p:sp>
      <p:sp>
        <p:nvSpPr>
          <p:cNvPr name="TextBox 5" id="5"/>
          <p:cNvSpPr txBox="true"/>
          <p:nvPr/>
        </p:nvSpPr>
        <p:spPr>
          <a:xfrm rot="0">
            <a:off x="6905506" y="460372"/>
            <a:ext cx="3162419"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CI-CD Pipeline</a:t>
            </a:r>
          </a:p>
        </p:txBody>
      </p:sp>
      <p:sp>
        <p:nvSpPr>
          <p:cNvPr name="TextBox 6" id="6"/>
          <p:cNvSpPr txBox="true"/>
          <p:nvPr/>
        </p:nvSpPr>
        <p:spPr>
          <a:xfrm rot="0">
            <a:off x="12624193" y="3427771"/>
            <a:ext cx="5466658" cy="1944370"/>
          </a:xfrm>
          <a:prstGeom prst="rect">
            <a:avLst/>
          </a:prstGeom>
        </p:spPr>
        <p:txBody>
          <a:bodyPr anchor="t" rtlCol="false" tIns="0" lIns="0" bIns="0" rIns="0">
            <a:spAutoFit/>
          </a:bodyPr>
          <a:lstStyle/>
          <a:p>
            <a:pPr algn="l">
              <a:lnSpc>
                <a:spcPts val="3079"/>
              </a:lnSpc>
              <a:spcBef>
                <a:spcPct val="0"/>
              </a:spcBef>
            </a:pPr>
            <a:r>
              <a:rPr lang="en-US" b="true" sz="2199">
                <a:solidFill>
                  <a:srgbClr val="000000"/>
                </a:solidFill>
                <a:latin typeface="Raleway Bold"/>
                <a:ea typeface="Raleway Bold"/>
                <a:cs typeface="Raleway Bold"/>
                <a:sym typeface="Raleway Bold"/>
              </a:rPr>
              <a:t>Reuseable Workflows -  </a:t>
            </a:r>
            <a:r>
              <a:rPr lang="en-US" sz="2199">
                <a:solidFill>
                  <a:srgbClr val="000000"/>
                </a:solidFill>
                <a:latin typeface="Raleway"/>
                <a:ea typeface="Raleway"/>
                <a:cs typeface="Raleway"/>
                <a:sym typeface="Raleway"/>
              </a:rPr>
              <a:t>We dont need to create seperate pipeline for each microservice , we can use workflow call to call this reuseable workflow by path based triggers </a:t>
            </a:r>
          </a:p>
        </p:txBody>
      </p:sp>
      <p:sp>
        <p:nvSpPr>
          <p:cNvPr name="TextBox 7" id="7"/>
          <p:cNvSpPr txBox="true"/>
          <p:nvPr/>
        </p:nvSpPr>
        <p:spPr>
          <a:xfrm rot="0">
            <a:off x="12624193" y="2350176"/>
            <a:ext cx="5466658" cy="772795"/>
          </a:xfrm>
          <a:prstGeom prst="rect">
            <a:avLst/>
          </a:prstGeom>
        </p:spPr>
        <p:txBody>
          <a:bodyPr anchor="t" rtlCol="false" tIns="0" lIns="0" bIns="0" rIns="0">
            <a:spAutoFit/>
          </a:bodyPr>
          <a:lstStyle/>
          <a:p>
            <a:pPr algn="l">
              <a:lnSpc>
                <a:spcPts val="3079"/>
              </a:lnSpc>
              <a:spcBef>
                <a:spcPct val="0"/>
              </a:spcBef>
            </a:pPr>
            <a:r>
              <a:rPr lang="en-US" b="true" sz="2199">
                <a:solidFill>
                  <a:srgbClr val="000000"/>
                </a:solidFill>
                <a:latin typeface="Raleway Bold"/>
                <a:ea typeface="Raleway Bold"/>
                <a:cs typeface="Raleway Bold"/>
                <a:sym typeface="Raleway Bold"/>
              </a:rPr>
              <a:t>Shift Left Security - </a:t>
            </a:r>
            <a:r>
              <a:rPr lang="en-US" sz="2199">
                <a:solidFill>
                  <a:srgbClr val="000000"/>
                </a:solidFill>
                <a:latin typeface="Raleway"/>
                <a:ea typeface="Raleway"/>
                <a:cs typeface="Raleway"/>
                <a:sym typeface="Raleway"/>
              </a:rPr>
              <a:t>Securing Left side before moving to right side</a:t>
            </a:r>
          </a:p>
        </p:txBody>
      </p:sp>
      <p:sp>
        <p:nvSpPr>
          <p:cNvPr name="TextBox 8" id="8"/>
          <p:cNvSpPr txBox="true"/>
          <p:nvPr/>
        </p:nvSpPr>
        <p:spPr>
          <a:xfrm rot="0">
            <a:off x="12624193" y="5676942"/>
            <a:ext cx="5663807" cy="1553845"/>
          </a:xfrm>
          <a:prstGeom prst="rect">
            <a:avLst/>
          </a:prstGeom>
        </p:spPr>
        <p:txBody>
          <a:bodyPr anchor="t" rtlCol="false" tIns="0" lIns="0" bIns="0" rIns="0">
            <a:spAutoFit/>
          </a:bodyPr>
          <a:lstStyle/>
          <a:p>
            <a:pPr algn="l">
              <a:lnSpc>
                <a:spcPts val="3079"/>
              </a:lnSpc>
              <a:spcBef>
                <a:spcPct val="0"/>
              </a:spcBef>
            </a:pPr>
            <a:r>
              <a:rPr lang="en-US" b="true" sz="2199">
                <a:solidFill>
                  <a:srgbClr val="000000"/>
                </a:solidFill>
                <a:latin typeface="Raleway Bold"/>
                <a:ea typeface="Raleway Bold"/>
                <a:cs typeface="Raleway Bold"/>
                <a:sym typeface="Raleway Bold"/>
              </a:rPr>
              <a:t>Deployment Governance - </a:t>
            </a:r>
            <a:r>
              <a:rPr lang="en-US" sz="2199">
                <a:solidFill>
                  <a:srgbClr val="000000"/>
                </a:solidFill>
                <a:latin typeface="Raleway"/>
                <a:ea typeface="Raleway"/>
                <a:cs typeface="Raleway"/>
                <a:sym typeface="Raleway"/>
              </a:rPr>
              <a:t>we use 7 letters of the commit SHA of the developer to track which image is created and is responsible by whom</a:t>
            </a:r>
          </a:p>
        </p:txBody>
      </p:sp>
      <p:sp>
        <p:nvSpPr>
          <p:cNvPr name="TextBox 9" id="9"/>
          <p:cNvSpPr txBox="true"/>
          <p:nvPr/>
        </p:nvSpPr>
        <p:spPr>
          <a:xfrm rot="0">
            <a:off x="12624193" y="7533475"/>
            <a:ext cx="5663807" cy="1944370"/>
          </a:xfrm>
          <a:prstGeom prst="rect">
            <a:avLst/>
          </a:prstGeom>
        </p:spPr>
        <p:txBody>
          <a:bodyPr anchor="t" rtlCol="false" tIns="0" lIns="0" bIns="0" rIns="0">
            <a:spAutoFit/>
          </a:bodyPr>
          <a:lstStyle/>
          <a:p>
            <a:pPr algn="l">
              <a:lnSpc>
                <a:spcPts val="3079"/>
              </a:lnSpc>
              <a:spcBef>
                <a:spcPct val="0"/>
              </a:spcBef>
            </a:pPr>
            <a:r>
              <a:rPr lang="en-US" b="true" sz="2199">
                <a:solidFill>
                  <a:srgbClr val="000000"/>
                </a:solidFill>
                <a:latin typeface="Raleway Bold"/>
                <a:ea typeface="Raleway Bold"/>
                <a:cs typeface="Raleway Bold"/>
                <a:sym typeface="Raleway Bold"/>
              </a:rPr>
              <a:t>Immutable Promotion - </a:t>
            </a:r>
            <a:r>
              <a:rPr lang="en-US" sz="2199">
                <a:solidFill>
                  <a:srgbClr val="000000"/>
                </a:solidFill>
                <a:latin typeface="Raleway"/>
                <a:ea typeface="Raleway"/>
                <a:cs typeface="Raleway"/>
                <a:sym typeface="Raleway"/>
              </a:rPr>
              <a:t>we do not rebuild the image that wa salready tested and is ready for production , we just retag it and deploy to production which helps us to maintain the integrity of the image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42515" y="6428671"/>
            <a:ext cx="6318494" cy="3309596"/>
          </a:xfrm>
          <a:custGeom>
            <a:avLst/>
            <a:gdLst/>
            <a:ahLst/>
            <a:cxnLst/>
            <a:rect r="r" b="b" t="t" l="l"/>
            <a:pathLst>
              <a:path h="3309596" w="6318494">
                <a:moveTo>
                  <a:pt x="0" y="0"/>
                </a:moveTo>
                <a:lnTo>
                  <a:pt x="6318494" y="0"/>
                </a:lnTo>
                <a:lnTo>
                  <a:pt x="6318494" y="3309596"/>
                </a:lnTo>
                <a:lnTo>
                  <a:pt x="0" y="3309596"/>
                </a:lnTo>
                <a:lnTo>
                  <a:pt x="0" y="0"/>
                </a:lnTo>
                <a:close/>
              </a:path>
            </a:pathLst>
          </a:custGeom>
          <a:blipFill>
            <a:blip r:embed="rId2"/>
            <a:stretch>
              <a:fillRect l="-60141" t="-122804" r="-16015" b="0"/>
            </a:stretch>
          </a:blipFill>
        </p:spPr>
      </p:sp>
      <p:sp>
        <p:nvSpPr>
          <p:cNvPr name="Freeform 3" id="3"/>
          <p:cNvSpPr/>
          <p:nvPr/>
        </p:nvSpPr>
        <p:spPr>
          <a:xfrm flipH="false" flipV="false" rot="0">
            <a:off x="656866" y="1379350"/>
            <a:ext cx="6028217" cy="8016778"/>
          </a:xfrm>
          <a:custGeom>
            <a:avLst/>
            <a:gdLst/>
            <a:ahLst/>
            <a:cxnLst/>
            <a:rect r="r" b="b" t="t" l="l"/>
            <a:pathLst>
              <a:path h="8016778" w="6028217">
                <a:moveTo>
                  <a:pt x="0" y="0"/>
                </a:moveTo>
                <a:lnTo>
                  <a:pt x="6028217" y="0"/>
                </a:lnTo>
                <a:lnTo>
                  <a:pt x="6028217" y="8016778"/>
                </a:lnTo>
                <a:lnTo>
                  <a:pt x="0" y="8016778"/>
                </a:lnTo>
                <a:lnTo>
                  <a:pt x="0" y="0"/>
                </a:lnTo>
                <a:close/>
              </a:path>
            </a:pathLst>
          </a:custGeom>
          <a:blipFill>
            <a:blip r:embed="rId3"/>
            <a:stretch>
              <a:fillRect l="0" t="0" r="0" b="0"/>
            </a:stretch>
          </a:blipFill>
        </p:spPr>
      </p:sp>
      <p:sp>
        <p:nvSpPr>
          <p:cNvPr name="TextBox 4" id="4"/>
          <p:cNvSpPr txBox="true"/>
          <p:nvPr/>
        </p:nvSpPr>
        <p:spPr>
          <a:xfrm rot="0">
            <a:off x="6520577" y="460372"/>
            <a:ext cx="3932277"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Shift Left Security</a:t>
            </a:r>
          </a:p>
        </p:txBody>
      </p:sp>
      <p:sp>
        <p:nvSpPr>
          <p:cNvPr name="Freeform 5" id="5"/>
          <p:cNvSpPr/>
          <p:nvPr/>
        </p:nvSpPr>
        <p:spPr>
          <a:xfrm flipH="false" flipV="false" rot="0">
            <a:off x="7398761" y="1379350"/>
            <a:ext cx="8006002" cy="4763571"/>
          </a:xfrm>
          <a:custGeom>
            <a:avLst/>
            <a:gdLst/>
            <a:ahLst/>
            <a:cxnLst/>
            <a:rect r="r" b="b" t="t" l="l"/>
            <a:pathLst>
              <a:path h="4763571" w="8006002">
                <a:moveTo>
                  <a:pt x="0" y="0"/>
                </a:moveTo>
                <a:lnTo>
                  <a:pt x="8006002" y="0"/>
                </a:lnTo>
                <a:lnTo>
                  <a:pt x="8006002" y="4763571"/>
                </a:lnTo>
                <a:lnTo>
                  <a:pt x="0" y="4763571"/>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0675" y="1028700"/>
            <a:ext cx="6739391" cy="3613999"/>
          </a:xfrm>
          <a:custGeom>
            <a:avLst/>
            <a:gdLst/>
            <a:ahLst/>
            <a:cxnLst/>
            <a:rect r="r" b="b" t="t" l="l"/>
            <a:pathLst>
              <a:path h="3613999" w="6739391">
                <a:moveTo>
                  <a:pt x="0" y="0"/>
                </a:moveTo>
                <a:lnTo>
                  <a:pt x="6739391" y="0"/>
                </a:lnTo>
                <a:lnTo>
                  <a:pt x="6739391" y="3613999"/>
                </a:lnTo>
                <a:lnTo>
                  <a:pt x="0" y="3613999"/>
                </a:lnTo>
                <a:lnTo>
                  <a:pt x="0" y="0"/>
                </a:lnTo>
                <a:close/>
              </a:path>
            </a:pathLst>
          </a:custGeom>
          <a:blipFill>
            <a:blip r:embed="rId2"/>
            <a:stretch>
              <a:fillRect l="0" t="0" r="0" b="0"/>
            </a:stretch>
          </a:blipFill>
        </p:spPr>
      </p:sp>
      <p:sp>
        <p:nvSpPr>
          <p:cNvPr name="Freeform 3" id="3"/>
          <p:cNvSpPr/>
          <p:nvPr/>
        </p:nvSpPr>
        <p:spPr>
          <a:xfrm flipH="false" flipV="false" rot="0">
            <a:off x="6850645" y="5143500"/>
            <a:ext cx="9465928" cy="4224170"/>
          </a:xfrm>
          <a:custGeom>
            <a:avLst/>
            <a:gdLst/>
            <a:ahLst/>
            <a:cxnLst/>
            <a:rect r="r" b="b" t="t" l="l"/>
            <a:pathLst>
              <a:path h="4224170" w="9465928">
                <a:moveTo>
                  <a:pt x="0" y="0"/>
                </a:moveTo>
                <a:lnTo>
                  <a:pt x="9465928" y="0"/>
                </a:lnTo>
                <a:lnTo>
                  <a:pt x="9465928" y="4224170"/>
                </a:lnTo>
                <a:lnTo>
                  <a:pt x="0" y="4224170"/>
                </a:lnTo>
                <a:lnTo>
                  <a:pt x="0" y="0"/>
                </a:lnTo>
                <a:close/>
              </a:path>
            </a:pathLst>
          </a:custGeom>
          <a:blipFill>
            <a:blip r:embed="rId3"/>
            <a:stretch>
              <a:fillRect l="0" t="0" r="0" b="0"/>
            </a:stretch>
          </a:blipFill>
        </p:spPr>
      </p:sp>
      <p:sp>
        <p:nvSpPr>
          <p:cNvPr name="TextBox 4" id="4"/>
          <p:cNvSpPr txBox="true"/>
          <p:nvPr/>
        </p:nvSpPr>
        <p:spPr>
          <a:xfrm rot="0">
            <a:off x="7420604" y="2354369"/>
            <a:ext cx="10867396" cy="905510"/>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Raleway Bold"/>
                <a:ea typeface="Raleway Bold"/>
                <a:cs typeface="Raleway Bold"/>
                <a:sym typeface="Raleway Bold"/>
              </a:rPr>
              <a:t>SonarQube Quality Gate - </a:t>
            </a:r>
            <a:r>
              <a:rPr lang="en-US" sz="2600">
                <a:solidFill>
                  <a:srgbClr val="000000"/>
                </a:solidFill>
                <a:latin typeface="Raleway"/>
                <a:ea typeface="Raleway"/>
                <a:cs typeface="Raleway"/>
                <a:sym typeface="Raleway"/>
              </a:rPr>
              <a:t>Help us to make sure our code maintains a certain level of benchmark for Reliability , Securty and Maintainability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18472" y="4302897"/>
            <a:ext cx="3919559" cy="2005973"/>
          </a:xfrm>
          <a:custGeom>
            <a:avLst/>
            <a:gdLst/>
            <a:ahLst/>
            <a:cxnLst/>
            <a:rect r="r" b="b" t="t" l="l"/>
            <a:pathLst>
              <a:path h="2005973" w="3919559">
                <a:moveTo>
                  <a:pt x="0" y="0"/>
                </a:moveTo>
                <a:lnTo>
                  <a:pt x="3919560" y="0"/>
                </a:lnTo>
                <a:lnTo>
                  <a:pt x="3919560" y="2005974"/>
                </a:lnTo>
                <a:lnTo>
                  <a:pt x="0" y="2005974"/>
                </a:lnTo>
                <a:lnTo>
                  <a:pt x="0" y="0"/>
                </a:lnTo>
                <a:close/>
              </a:path>
            </a:pathLst>
          </a:custGeom>
          <a:blipFill>
            <a:blip r:embed="rId2"/>
            <a:stretch>
              <a:fillRect l="-1647" t="0" r="-186682" b="0"/>
            </a:stretch>
          </a:blipFill>
        </p:spPr>
      </p:sp>
      <p:sp>
        <p:nvSpPr>
          <p:cNvPr name="Freeform 3" id="3"/>
          <p:cNvSpPr/>
          <p:nvPr/>
        </p:nvSpPr>
        <p:spPr>
          <a:xfrm flipH="false" flipV="false" rot="0">
            <a:off x="8633782" y="2560740"/>
            <a:ext cx="4751316" cy="5490287"/>
          </a:xfrm>
          <a:custGeom>
            <a:avLst/>
            <a:gdLst/>
            <a:ahLst/>
            <a:cxnLst/>
            <a:rect r="r" b="b" t="t" l="l"/>
            <a:pathLst>
              <a:path h="5490287" w="4751316">
                <a:moveTo>
                  <a:pt x="0" y="0"/>
                </a:moveTo>
                <a:lnTo>
                  <a:pt x="4751315" y="0"/>
                </a:lnTo>
                <a:lnTo>
                  <a:pt x="4751315" y="5490287"/>
                </a:lnTo>
                <a:lnTo>
                  <a:pt x="0" y="5490287"/>
                </a:lnTo>
                <a:lnTo>
                  <a:pt x="0" y="0"/>
                </a:lnTo>
                <a:close/>
              </a:path>
            </a:pathLst>
          </a:custGeom>
          <a:blipFill>
            <a:blip r:embed="rId3"/>
            <a:stretch>
              <a:fillRect l="-39820" t="-22818" r="-102778" b="0"/>
            </a:stretch>
          </a:blipFill>
        </p:spPr>
      </p:sp>
      <p:sp>
        <p:nvSpPr>
          <p:cNvPr name="Freeform 4" id="4"/>
          <p:cNvSpPr/>
          <p:nvPr/>
        </p:nvSpPr>
        <p:spPr>
          <a:xfrm flipH="false" flipV="false" rot="0">
            <a:off x="612467" y="2723124"/>
            <a:ext cx="7683692" cy="5165519"/>
          </a:xfrm>
          <a:custGeom>
            <a:avLst/>
            <a:gdLst/>
            <a:ahLst/>
            <a:cxnLst/>
            <a:rect r="r" b="b" t="t" l="l"/>
            <a:pathLst>
              <a:path h="5165519" w="7683692">
                <a:moveTo>
                  <a:pt x="0" y="0"/>
                </a:moveTo>
                <a:lnTo>
                  <a:pt x="7683692" y="0"/>
                </a:lnTo>
                <a:lnTo>
                  <a:pt x="7683692" y="5165519"/>
                </a:lnTo>
                <a:lnTo>
                  <a:pt x="0" y="5165519"/>
                </a:lnTo>
                <a:lnTo>
                  <a:pt x="0" y="0"/>
                </a:lnTo>
                <a:close/>
              </a:path>
            </a:pathLst>
          </a:custGeom>
          <a:blipFill>
            <a:blip r:embed="rId4"/>
            <a:stretch>
              <a:fillRect l="-25412" t="-6656" r="-21668" b="0"/>
            </a:stretch>
          </a:blipFill>
        </p:spPr>
      </p:sp>
      <p:sp>
        <p:nvSpPr>
          <p:cNvPr name="TextBox 5" id="5"/>
          <p:cNvSpPr txBox="true"/>
          <p:nvPr/>
        </p:nvSpPr>
        <p:spPr>
          <a:xfrm rot="0">
            <a:off x="7468742" y="1125839"/>
            <a:ext cx="2981920"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Manual Gates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15614" y="1698708"/>
            <a:ext cx="7271101" cy="2435759"/>
          </a:xfrm>
          <a:custGeom>
            <a:avLst/>
            <a:gdLst/>
            <a:ahLst/>
            <a:cxnLst/>
            <a:rect r="r" b="b" t="t" l="l"/>
            <a:pathLst>
              <a:path h="2435759" w="7271101">
                <a:moveTo>
                  <a:pt x="0" y="0"/>
                </a:moveTo>
                <a:lnTo>
                  <a:pt x="7271101" y="0"/>
                </a:lnTo>
                <a:lnTo>
                  <a:pt x="7271101" y="2435759"/>
                </a:lnTo>
                <a:lnTo>
                  <a:pt x="0" y="2435759"/>
                </a:lnTo>
                <a:lnTo>
                  <a:pt x="0" y="0"/>
                </a:lnTo>
                <a:close/>
              </a:path>
            </a:pathLst>
          </a:custGeom>
          <a:blipFill>
            <a:blip r:embed="rId2"/>
            <a:stretch>
              <a:fillRect l="0" t="0" r="0" b="0"/>
            </a:stretch>
          </a:blipFill>
        </p:spPr>
      </p:sp>
      <p:sp>
        <p:nvSpPr>
          <p:cNvPr name="Freeform 3" id="3"/>
          <p:cNvSpPr/>
          <p:nvPr/>
        </p:nvSpPr>
        <p:spPr>
          <a:xfrm flipH="false" flipV="false" rot="0">
            <a:off x="9635599" y="1907554"/>
            <a:ext cx="6287444" cy="2018067"/>
          </a:xfrm>
          <a:custGeom>
            <a:avLst/>
            <a:gdLst/>
            <a:ahLst/>
            <a:cxnLst/>
            <a:rect r="r" b="b" t="t" l="l"/>
            <a:pathLst>
              <a:path h="2018067" w="6287444">
                <a:moveTo>
                  <a:pt x="0" y="0"/>
                </a:moveTo>
                <a:lnTo>
                  <a:pt x="6287444" y="0"/>
                </a:lnTo>
                <a:lnTo>
                  <a:pt x="6287444" y="2018067"/>
                </a:lnTo>
                <a:lnTo>
                  <a:pt x="0" y="2018067"/>
                </a:lnTo>
                <a:lnTo>
                  <a:pt x="0" y="0"/>
                </a:lnTo>
                <a:close/>
              </a:path>
            </a:pathLst>
          </a:custGeom>
          <a:blipFill>
            <a:blip r:embed="rId3"/>
            <a:stretch>
              <a:fillRect l="0" t="0" r="0" b="0"/>
            </a:stretch>
          </a:blipFill>
        </p:spPr>
      </p:sp>
      <p:sp>
        <p:nvSpPr>
          <p:cNvPr name="Freeform 4" id="4"/>
          <p:cNvSpPr/>
          <p:nvPr/>
        </p:nvSpPr>
        <p:spPr>
          <a:xfrm flipH="false" flipV="false" rot="0">
            <a:off x="720631" y="4592586"/>
            <a:ext cx="9103833" cy="4665714"/>
          </a:xfrm>
          <a:custGeom>
            <a:avLst/>
            <a:gdLst/>
            <a:ahLst/>
            <a:cxnLst/>
            <a:rect r="r" b="b" t="t" l="l"/>
            <a:pathLst>
              <a:path h="4665714" w="9103833">
                <a:moveTo>
                  <a:pt x="0" y="0"/>
                </a:moveTo>
                <a:lnTo>
                  <a:pt x="9103833" y="0"/>
                </a:lnTo>
                <a:lnTo>
                  <a:pt x="9103833" y="4665714"/>
                </a:lnTo>
                <a:lnTo>
                  <a:pt x="0" y="4665714"/>
                </a:lnTo>
                <a:lnTo>
                  <a:pt x="0" y="0"/>
                </a:lnTo>
                <a:close/>
              </a:path>
            </a:pathLst>
          </a:custGeom>
          <a:blipFill>
            <a:blip r:embed="rId4"/>
            <a:stretch>
              <a:fillRect l="0" t="0" r="0" b="0"/>
            </a:stretch>
          </a:blipFill>
        </p:spPr>
      </p:sp>
      <p:sp>
        <p:nvSpPr>
          <p:cNvPr name="Freeform 5" id="5"/>
          <p:cNvSpPr/>
          <p:nvPr/>
        </p:nvSpPr>
        <p:spPr>
          <a:xfrm flipH="false" flipV="false" rot="0">
            <a:off x="9824464" y="5439081"/>
            <a:ext cx="7712290" cy="3364487"/>
          </a:xfrm>
          <a:custGeom>
            <a:avLst/>
            <a:gdLst/>
            <a:ahLst/>
            <a:cxnLst/>
            <a:rect r="r" b="b" t="t" l="l"/>
            <a:pathLst>
              <a:path h="3364487" w="7712290">
                <a:moveTo>
                  <a:pt x="0" y="0"/>
                </a:moveTo>
                <a:lnTo>
                  <a:pt x="7712290" y="0"/>
                </a:lnTo>
                <a:lnTo>
                  <a:pt x="7712290" y="3364487"/>
                </a:lnTo>
                <a:lnTo>
                  <a:pt x="0" y="3364487"/>
                </a:lnTo>
                <a:lnTo>
                  <a:pt x="0" y="0"/>
                </a:lnTo>
                <a:close/>
              </a:path>
            </a:pathLst>
          </a:custGeom>
          <a:blipFill>
            <a:blip r:embed="rId5"/>
            <a:stretch>
              <a:fillRect l="0" t="0" r="0" b="0"/>
            </a:stretch>
          </a:blipFill>
        </p:spPr>
      </p:sp>
      <p:sp>
        <p:nvSpPr>
          <p:cNvPr name="TextBox 6" id="6"/>
          <p:cNvSpPr txBox="true"/>
          <p:nvPr/>
        </p:nvSpPr>
        <p:spPr>
          <a:xfrm rot="0">
            <a:off x="6061412" y="460372"/>
            <a:ext cx="4850606"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Jobs and Notifications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600266" y="3206881"/>
            <a:ext cx="7030442" cy="3234003"/>
          </a:xfrm>
          <a:custGeom>
            <a:avLst/>
            <a:gdLst/>
            <a:ahLst/>
            <a:cxnLst/>
            <a:rect r="r" b="b" t="t" l="l"/>
            <a:pathLst>
              <a:path h="3234003" w="7030442">
                <a:moveTo>
                  <a:pt x="0" y="0"/>
                </a:moveTo>
                <a:lnTo>
                  <a:pt x="7030442" y="0"/>
                </a:lnTo>
                <a:lnTo>
                  <a:pt x="7030442" y="3234003"/>
                </a:lnTo>
                <a:lnTo>
                  <a:pt x="0" y="3234003"/>
                </a:lnTo>
                <a:lnTo>
                  <a:pt x="0" y="0"/>
                </a:lnTo>
                <a:close/>
              </a:path>
            </a:pathLst>
          </a:custGeom>
          <a:blipFill>
            <a:blip r:embed="rId2"/>
            <a:stretch>
              <a:fillRect l="0" t="0" r="0" b="0"/>
            </a:stretch>
          </a:blipFill>
        </p:spPr>
      </p:sp>
      <p:sp>
        <p:nvSpPr>
          <p:cNvPr name="Freeform 3" id="3"/>
          <p:cNvSpPr/>
          <p:nvPr/>
        </p:nvSpPr>
        <p:spPr>
          <a:xfrm flipH="false" flipV="false" rot="0">
            <a:off x="1028700" y="2793421"/>
            <a:ext cx="8571566" cy="4007207"/>
          </a:xfrm>
          <a:custGeom>
            <a:avLst/>
            <a:gdLst/>
            <a:ahLst/>
            <a:cxnLst/>
            <a:rect r="r" b="b" t="t" l="l"/>
            <a:pathLst>
              <a:path h="4007207" w="8571566">
                <a:moveTo>
                  <a:pt x="0" y="0"/>
                </a:moveTo>
                <a:lnTo>
                  <a:pt x="8571566" y="0"/>
                </a:lnTo>
                <a:lnTo>
                  <a:pt x="8571566" y="4007207"/>
                </a:lnTo>
                <a:lnTo>
                  <a:pt x="0" y="4007207"/>
                </a:lnTo>
                <a:lnTo>
                  <a:pt x="0" y="0"/>
                </a:lnTo>
                <a:close/>
              </a:path>
            </a:pathLst>
          </a:custGeom>
          <a:blipFill>
            <a:blip r:embed="rId3"/>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22020" y="1227591"/>
            <a:ext cx="12144740" cy="8030709"/>
          </a:xfrm>
          <a:custGeom>
            <a:avLst/>
            <a:gdLst/>
            <a:ahLst/>
            <a:cxnLst/>
            <a:rect r="r" b="b" t="t" l="l"/>
            <a:pathLst>
              <a:path h="8030709" w="12144740">
                <a:moveTo>
                  <a:pt x="0" y="0"/>
                </a:moveTo>
                <a:lnTo>
                  <a:pt x="12144740" y="0"/>
                </a:lnTo>
                <a:lnTo>
                  <a:pt x="12144740" y="8030709"/>
                </a:lnTo>
                <a:lnTo>
                  <a:pt x="0" y="8030709"/>
                </a:lnTo>
                <a:lnTo>
                  <a:pt x="0" y="0"/>
                </a:lnTo>
                <a:close/>
              </a:path>
            </a:pathLst>
          </a:custGeom>
          <a:blipFill>
            <a:blip r:embed="rId2"/>
            <a:stretch>
              <a:fillRect l="0" t="0" r="0" b="0"/>
            </a:stretch>
          </a:blipFill>
        </p:spPr>
      </p:sp>
      <p:sp>
        <p:nvSpPr>
          <p:cNvPr name="TextBox 3" id="3"/>
          <p:cNvSpPr txBox="true"/>
          <p:nvPr/>
        </p:nvSpPr>
        <p:spPr>
          <a:xfrm rot="0">
            <a:off x="6702749" y="217090"/>
            <a:ext cx="4303395"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ArgoCD Dashbioard</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81159" y="2152654"/>
            <a:ext cx="13146576" cy="5981692"/>
          </a:xfrm>
          <a:custGeom>
            <a:avLst/>
            <a:gdLst/>
            <a:ahLst/>
            <a:cxnLst/>
            <a:rect r="r" b="b" t="t" l="l"/>
            <a:pathLst>
              <a:path h="5981692" w="13146576">
                <a:moveTo>
                  <a:pt x="0" y="0"/>
                </a:moveTo>
                <a:lnTo>
                  <a:pt x="13146576" y="0"/>
                </a:lnTo>
                <a:lnTo>
                  <a:pt x="13146576" y="5981692"/>
                </a:lnTo>
                <a:lnTo>
                  <a:pt x="0" y="5981692"/>
                </a:lnTo>
                <a:lnTo>
                  <a:pt x="0" y="0"/>
                </a:lnTo>
                <a:close/>
              </a:path>
            </a:pathLst>
          </a:custGeom>
          <a:blipFill>
            <a:blip r:embed="rId2"/>
            <a:stretch>
              <a:fillRect l="0" t="0" r="0" b="0"/>
            </a:stretch>
          </a:blipFill>
        </p:spPr>
      </p:sp>
      <p:sp>
        <p:nvSpPr>
          <p:cNvPr name="TextBox 3" id="3"/>
          <p:cNvSpPr txBox="true"/>
          <p:nvPr/>
        </p:nvSpPr>
        <p:spPr>
          <a:xfrm rot="0">
            <a:off x="6057073" y="217090"/>
            <a:ext cx="5594747"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Argo Rollouts Dashbioard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77755" y="6641187"/>
            <a:ext cx="7372979" cy="3414254"/>
          </a:xfrm>
          <a:custGeom>
            <a:avLst/>
            <a:gdLst/>
            <a:ahLst/>
            <a:cxnLst/>
            <a:rect r="r" b="b" t="t" l="l"/>
            <a:pathLst>
              <a:path h="3414254" w="7372979">
                <a:moveTo>
                  <a:pt x="0" y="0"/>
                </a:moveTo>
                <a:lnTo>
                  <a:pt x="7372979" y="0"/>
                </a:lnTo>
                <a:lnTo>
                  <a:pt x="7372979" y="3414254"/>
                </a:lnTo>
                <a:lnTo>
                  <a:pt x="0" y="3414254"/>
                </a:lnTo>
                <a:lnTo>
                  <a:pt x="0" y="0"/>
                </a:lnTo>
                <a:close/>
              </a:path>
            </a:pathLst>
          </a:custGeom>
          <a:blipFill>
            <a:blip r:embed="rId2"/>
            <a:stretch>
              <a:fillRect l="0" t="-14991" r="0" b="0"/>
            </a:stretch>
          </a:blipFill>
        </p:spPr>
      </p:sp>
      <p:sp>
        <p:nvSpPr>
          <p:cNvPr name="Freeform 3" id="3"/>
          <p:cNvSpPr/>
          <p:nvPr/>
        </p:nvSpPr>
        <p:spPr>
          <a:xfrm flipH="false" flipV="false" rot="0">
            <a:off x="813752" y="1265205"/>
            <a:ext cx="11536981" cy="2811293"/>
          </a:xfrm>
          <a:custGeom>
            <a:avLst/>
            <a:gdLst/>
            <a:ahLst/>
            <a:cxnLst/>
            <a:rect r="r" b="b" t="t" l="l"/>
            <a:pathLst>
              <a:path h="2811293" w="11536981">
                <a:moveTo>
                  <a:pt x="0" y="0"/>
                </a:moveTo>
                <a:lnTo>
                  <a:pt x="11536982" y="0"/>
                </a:lnTo>
                <a:lnTo>
                  <a:pt x="11536982" y="2811293"/>
                </a:lnTo>
                <a:lnTo>
                  <a:pt x="0" y="2811293"/>
                </a:lnTo>
                <a:lnTo>
                  <a:pt x="0" y="0"/>
                </a:lnTo>
                <a:close/>
              </a:path>
            </a:pathLst>
          </a:custGeom>
          <a:blipFill>
            <a:blip r:embed="rId3"/>
            <a:stretch>
              <a:fillRect l="0" t="0" r="-8207" b="-96497"/>
            </a:stretch>
          </a:blipFill>
        </p:spPr>
      </p:sp>
      <p:sp>
        <p:nvSpPr>
          <p:cNvPr name="Freeform 4" id="4"/>
          <p:cNvSpPr/>
          <p:nvPr/>
        </p:nvSpPr>
        <p:spPr>
          <a:xfrm flipH="false" flipV="false" rot="0">
            <a:off x="644807" y="4281975"/>
            <a:ext cx="15665845" cy="2149662"/>
          </a:xfrm>
          <a:custGeom>
            <a:avLst/>
            <a:gdLst/>
            <a:ahLst/>
            <a:cxnLst/>
            <a:rect r="r" b="b" t="t" l="l"/>
            <a:pathLst>
              <a:path h="2149662" w="15665845">
                <a:moveTo>
                  <a:pt x="0" y="0"/>
                </a:moveTo>
                <a:lnTo>
                  <a:pt x="15665845" y="0"/>
                </a:lnTo>
                <a:lnTo>
                  <a:pt x="15665845" y="2149662"/>
                </a:lnTo>
                <a:lnTo>
                  <a:pt x="0" y="2149662"/>
                </a:lnTo>
                <a:lnTo>
                  <a:pt x="0" y="0"/>
                </a:lnTo>
                <a:close/>
              </a:path>
            </a:pathLst>
          </a:custGeom>
          <a:blipFill>
            <a:blip r:embed="rId4"/>
            <a:stretch>
              <a:fillRect l="0" t="0" r="-74247" b="0"/>
            </a:stretch>
          </a:blipFill>
        </p:spPr>
      </p:sp>
      <p:sp>
        <p:nvSpPr>
          <p:cNvPr name="TextBox 5" id="5"/>
          <p:cNvSpPr txBox="true"/>
          <p:nvPr/>
        </p:nvSpPr>
        <p:spPr>
          <a:xfrm rot="0">
            <a:off x="4785589" y="396239"/>
            <a:ext cx="8256151"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Access C</a:t>
            </a:r>
            <a:r>
              <a:rPr lang="en-US" b="true" sz="3599">
                <a:solidFill>
                  <a:srgbClr val="FF751F"/>
                </a:solidFill>
                <a:latin typeface="Raleway Bold"/>
                <a:ea typeface="Raleway Bold"/>
                <a:cs typeface="Raleway Bold"/>
                <a:sym typeface="Raleway Bold"/>
              </a:rPr>
              <a:t>ontrol and Team Governance</a:t>
            </a:r>
          </a:p>
        </p:txBody>
      </p:sp>
      <p:sp>
        <p:nvSpPr>
          <p:cNvPr name="TextBox 6" id="6"/>
          <p:cNvSpPr txBox="true"/>
          <p:nvPr/>
        </p:nvSpPr>
        <p:spPr>
          <a:xfrm rot="0">
            <a:off x="13648061" y="2311759"/>
            <a:ext cx="1996797"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000000"/>
                </a:solidFill>
                <a:latin typeface="Raleway Bold"/>
                <a:ea typeface="Raleway Bold"/>
                <a:cs typeface="Raleway Bold"/>
                <a:sym typeface="Raleway Bold"/>
              </a:rPr>
              <a:t>Keycloak</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1919" y="3666740"/>
            <a:ext cx="6258695" cy="4248089"/>
          </a:xfrm>
          <a:custGeom>
            <a:avLst/>
            <a:gdLst/>
            <a:ahLst/>
            <a:cxnLst/>
            <a:rect r="r" b="b" t="t" l="l"/>
            <a:pathLst>
              <a:path h="4248089" w="6258695">
                <a:moveTo>
                  <a:pt x="0" y="0"/>
                </a:moveTo>
                <a:lnTo>
                  <a:pt x="6258695" y="0"/>
                </a:lnTo>
                <a:lnTo>
                  <a:pt x="6258695" y="4248089"/>
                </a:lnTo>
                <a:lnTo>
                  <a:pt x="0" y="4248089"/>
                </a:lnTo>
                <a:lnTo>
                  <a:pt x="0" y="0"/>
                </a:lnTo>
                <a:close/>
              </a:path>
            </a:pathLst>
          </a:custGeom>
          <a:blipFill>
            <a:blip r:embed="rId2"/>
            <a:stretch>
              <a:fillRect l="0" t="0" r="0" b="0"/>
            </a:stretch>
          </a:blipFill>
        </p:spPr>
      </p:sp>
      <p:sp>
        <p:nvSpPr>
          <p:cNvPr name="Freeform 3" id="3"/>
          <p:cNvSpPr/>
          <p:nvPr/>
        </p:nvSpPr>
        <p:spPr>
          <a:xfrm flipH="false" flipV="false" rot="0">
            <a:off x="7163336" y="2852882"/>
            <a:ext cx="10855990" cy="5875805"/>
          </a:xfrm>
          <a:custGeom>
            <a:avLst/>
            <a:gdLst/>
            <a:ahLst/>
            <a:cxnLst/>
            <a:rect r="r" b="b" t="t" l="l"/>
            <a:pathLst>
              <a:path h="5875805" w="10855990">
                <a:moveTo>
                  <a:pt x="0" y="0"/>
                </a:moveTo>
                <a:lnTo>
                  <a:pt x="10855991" y="0"/>
                </a:lnTo>
                <a:lnTo>
                  <a:pt x="10855991" y="5875805"/>
                </a:lnTo>
                <a:lnTo>
                  <a:pt x="0" y="5875805"/>
                </a:lnTo>
                <a:lnTo>
                  <a:pt x="0" y="0"/>
                </a:lnTo>
                <a:close/>
              </a:path>
            </a:pathLst>
          </a:custGeom>
          <a:blipFill>
            <a:blip r:embed="rId3"/>
            <a:stretch>
              <a:fillRect l="0" t="0" r="0" b="0"/>
            </a:stretch>
          </a:blipFill>
        </p:spPr>
      </p:sp>
      <p:sp>
        <p:nvSpPr>
          <p:cNvPr name="TextBox 4" id="4"/>
          <p:cNvSpPr txBox="true"/>
          <p:nvPr/>
        </p:nvSpPr>
        <p:spPr>
          <a:xfrm rot="0">
            <a:off x="0" y="1229985"/>
            <a:ext cx="6783999" cy="1362710"/>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Raleway Bold"/>
                <a:ea typeface="Raleway Bold"/>
                <a:cs typeface="Raleway Bold"/>
                <a:sym typeface="Raleway Bold"/>
              </a:rPr>
              <a:t>HeadLamp - </a:t>
            </a:r>
            <a:r>
              <a:rPr lang="en-US" sz="2600">
                <a:solidFill>
                  <a:srgbClr val="000000"/>
                </a:solidFill>
                <a:latin typeface="Raleway"/>
                <a:ea typeface="Raleway"/>
                <a:cs typeface="Raleway"/>
                <a:sym typeface="Raleway"/>
              </a:rPr>
              <a:t>we used keycloak as a sigin provider for our team memebers to access the cluster via headlamp</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3169" y="2225422"/>
            <a:ext cx="15055325" cy="7402733"/>
          </a:xfrm>
          <a:custGeom>
            <a:avLst/>
            <a:gdLst/>
            <a:ahLst/>
            <a:cxnLst/>
            <a:rect r="r" b="b" t="t" l="l"/>
            <a:pathLst>
              <a:path h="7402733" w="15055325">
                <a:moveTo>
                  <a:pt x="0" y="0"/>
                </a:moveTo>
                <a:lnTo>
                  <a:pt x="15055325" y="0"/>
                </a:lnTo>
                <a:lnTo>
                  <a:pt x="15055325" y="7402733"/>
                </a:lnTo>
                <a:lnTo>
                  <a:pt x="0" y="7402733"/>
                </a:lnTo>
                <a:lnTo>
                  <a:pt x="0" y="0"/>
                </a:lnTo>
                <a:close/>
              </a:path>
            </a:pathLst>
          </a:custGeom>
          <a:blipFill>
            <a:blip r:embed="rId2"/>
            <a:stretch>
              <a:fillRect l="0" t="-8297" r="0" b="0"/>
            </a:stretch>
          </a:blipFill>
        </p:spPr>
      </p:sp>
      <p:sp>
        <p:nvSpPr>
          <p:cNvPr name="TextBox 3" id="3"/>
          <p:cNvSpPr txBox="true"/>
          <p:nvPr/>
        </p:nvSpPr>
        <p:spPr>
          <a:xfrm rot="0">
            <a:off x="4852885" y="669607"/>
            <a:ext cx="6825853"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Prometheus and Alert Manager</a:t>
            </a:r>
          </a:p>
        </p:txBody>
      </p:sp>
      <p:sp>
        <p:nvSpPr>
          <p:cNvPr name="TextBox 4" id="4"/>
          <p:cNvSpPr txBox="true"/>
          <p:nvPr/>
        </p:nvSpPr>
        <p:spPr>
          <a:xfrm rot="0">
            <a:off x="1233169" y="1484980"/>
            <a:ext cx="4956810" cy="490855"/>
          </a:xfrm>
          <a:prstGeom prst="rect">
            <a:avLst/>
          </a:prstGeom>
        </p:spPr>
        <p:txBody>
          <a:bodyPr anchor="t" rtlCol="false" tIns="0" lIns="0" bIns="0" rIns="0">
            <a:spAutoFit/>
          </a:bodyPr>
          <a:lstStyle/>
          <a:p>
            <a:pPr algn="ctr">
              <a:lnSpc>
                <a:spcPts val="3919"/>
              </a:lnSpc>
              <a:spcBef>
                <a:spcPct val="0"/>
              </a:spcBef>
            </a:pPr>
            <a:r>
              <a:rPr lang="en-US" sz="2799">
                <a:solidFill>
                  <a:srgbClr val="000000"/>
                </a:solidFill>
                <a:latin typeface="Raleway"/>
                <a:ea typeface="Raleway"/>
                <a:cs typeface="Raleway"/>
                <a:sym typeface="Raleway"/>
              </a:rPr>
              <a:t>Alerts we setup for our project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7823" y="3501601"/>
            <a:ext cx="8224165" cy="4214884"/>
          </a:xfrm>
          <a:custGeom>
            <a:avLst/>
            <a:gdLst/>
            <a:ahLst/>
            <a:cxnLst/>
            <a:rect r="r" b="b" t="t" l="l"/>
            <a:pathLst>
              <a:path h="4214884" w="8224165">
                <a:moveTo>
                  <a:pt x="0" y="0"/>
                </a:moveTo>
                <a:lnTo>
                  <a:pt x="8224165" y="0"/>
                </a:lnTo>
                <a:lnTo>
                  <a:pt x="8224165" y="4214885"/>
                </a:lnTo>
                <a:lnTo>
                  <a:pt x="0" y="4214885"/>
                </a:lnTo>
                <a:lnTo>
                  <a:pt x="0" y="0"/>
                </a:lnTo>
                <a:close/>
              </a:path>
            </a:pathLst>
          </a:custGeom>
          <a:blipFill>
            <a:blip r:embed="rId2"/>
            <a:stretch>
              <a:fillRect l="0" t="0" r="0" b="0"/>
            </a:stretch>
          </a:blipFill>
        </p:spPr>
      </p:sp>
      <p:sp>
        <p:nvSpPr>
          <p:cNvPr name="Freeform 3" id="3"/>
          <p:cNvSpPr/>
          <p:nvPr/>
        </p:nvSpPr>
        <p:spPr>
          <a:xfrm flipH="false" flipV="false" rot="0">
            <a:off x="9144000" y="3212231"/>
            <a:ext cx="7747274" cy="4793626"/>
          </a:xfrm>
          <a:custGeom>
            <a:avLst/>
            <a:gdLst/>
            <a:ahLst/>
            <a:cxnLst/>
            <a:rect r="r" b="b" t="t" l="l"/>
            <a:pathLst>
              <a:path h="4793626" w="7747274">
                <a:moveTo>
                  <a:pt x="0" y="0"/>
                </a:moveTo>
                <a:lnTo>
                  <a:pt x="7747274" y="0"/>
                </a:lnTo>
                <a:lnTo>
                  <a:pt x="7747274" y="4793625"/>
                </a:lnTo>
                <a:lnTo>
                  <a:pt x="0" y="4793625"/>
                </a:lnTo>
                <a:lnTo>
                  <a:pt x="0" y="0"/>
                </a:lnTo>
                <a:close/>
              </a:path>
            </a:pathLst>
          </a:custGeom>
          <a:blipFill>
            <a:blip r:embed="rId3"/>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72736" y="2263604"/>
            <a:ext cx="9142527" cy="5759792"/>
          </a:xfrm>
          <a:custGeom>
            <a:avLst/>
            <a:gdLst/>
            <a:ahLst/>
            <a:cxnLst/>
            <a:rect r="r" b="b" t="t" l="l"/>
            <a:pathLst>
              <a:path h="5759792" w="9142527">
                <a:moveTo>
                  <a:pt x="0" y="0"/>
                </a:moveTo>
                <a:lnTo>
                  <a:pt x="9142528" y="0"/>
                </a:lnTo>
                <a:lnTo>
                  <a:pt x="9142528" y="5759792"/>
                </a:lnTo>
                <a:lnTo>
                  <a:pt x="0" y="5759792"/>
                </a:lnTo>
                <a:lnTo>
                  <a:pt x="0" y="0"/>
                </a:lnTo>
                <a:close/>
              </a:path>
            </a:pathLst>
          </a:custGeom>
          <a:blipFill>
            <a:blip r:embed="rId2"/>
            <a:stretch>
              <a:fillRect l="0" t="0" r="0" b="0"/>
            </a:stretch>
          </a:blipFill>
        </p:spPr>
      </p:sp>
      <p:sp>
        <p:nvSpPr>
          <p:cNvPr name="TextBox 3" id="3"/>
          <p:cNvSpPr txBox="true"/>
          <p:nvPr/>
        </p:nvSpPr>
        <p:spPr>
          <a:xfrm rot="0">
            <a:off x="7541573" y="669607"/>
            <a:ext cx="2369820"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Monitoring</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933403" y="669607"/>
            <a:ext cx="3023116"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 Observability</a:t>
            </a:r>
          </a:p>
        </p:txBody>
      </p:sp>
      <p:sp>
        <p:nvSpPr>
          <p:cNvPr name="Freeform 3" id="3"/>
          <p:cNvSpPr/>
          <p:nvPr/>
        </p:nvSpPr>
        <p:spPr>
          <a:xfrm flipH="false" flipV="false" rot="0">
            <a:off x="4297600" y="3757398"/>
            <a:ext cx="8653023" cy="4358960"/>
          </a:xfrm>
          <a:custGeom>
            <a:avLst/>
            <a:gdLst/>
            <a:ahLst/>
            <a:cxnLst/>
            <a:rect r="r" b="b" t="t" l="l"/>
            <a:pathLst>
              <a:path h="4358960" w="8653023">
                <a:moveTo>
                  <a:pt x="0" y="0"/>
                </a:moveTo>
                <a:lnTo>
                  <a:pt x="8653023" y="0"/>
                </a:lnTo>
                <a:lnTo>
                  <a:pt x="8653023" y="4358960"/>
                </a:lnTo>
                <a:lnTo>
                  <a:pt x="0" y="4358960"/>
                </a:lnTo>
                <a:lnTo>
                  <a:pt x="0" y="0"/>
                </a:lnTo>
                <a:close/>
              </a:path>
            </a:pathLst>
          </a:custGeom>
          <a:blipFill>
            <a:blip r:embed="rId2"/>
            <a:stretch>
              <a:fillRect l="0" t="0" r="0" b="0"/>
            </a:stretch>
          </a:blipFill>
        </p:spPr>
      </p:sp>
      <p:sp>
        <p:nvSpPr>
          <p:cNvPr name="TextBox 4" id="4"/>
          <p:cNvSpPr txBox="true"/>
          <p:nvPr/>
        </p:nvSpPr>
        <p:spPr>
          <a:xfrm rot="0">
            <a:off x="2040565" y="2532238"/>
            <a:ext cx="3764994" cy="632461"/>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Raleway"/>
                <a:ea typeface="Raleway"/>
                <a:cs typeface="Raleway"/>
                <a:sym typeface="Raleway"/>
              </a:rPr>
              <a:t>Loki and Promtail </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118703" y="1028700"/>
          <a:ext cx="6342672" cy="9025830"/>
        </p:xfrm>
        <a:graphic>
          <a:graphicData uri="http://schemas.openxmlformats.org/drawingml/2006/table">
            <a:tbl>
              <a:tblPr/>
              <a:tblGrid>
                <a:gridCol w="3171336"/>
                <a:gridCol w="3171336"/>
              </a:tblGrid>
              <a:tr h="853224">
                <a:tc>
                  <a:txBody>
                    <a:bodyPr anchor="t" rtlCol="false"/>
                    <a:lstStyle/>
                    <a:p>
                      <a:pPr algn="ctr">
                        <a:lnSpc>
                          <a:spcPts val="2520"/>
                        </a:lnSpc>
                        <a:defRPr/>
                      </a:pPr>
                      <a:r>
                        <a:rPr lang="en-US" sz="1800" b="true">
                          <a:solidFill>
                            <a:srgbClr val="000000"/>
                          </a:solidFill>
                          <a:latin typeface="Raleway Bold"/>
                          <a:ea typeface="Raleway Bold"/>
                          <a:cs typeface="Raleway Bold"/>
                          <a:sym typeface="Raleway Bold"/>
                        </a:rPr>
                        <a:t>flowforge.fun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Raleway Bold"/>
                          <a:ea typeface="Raleway Bold"/>
                          <a:cs typeface="Raleway Bold"/>
                          <a:sym typeface="Raleway Bold"/>
                        </a:rPr>
                        <a:t>Production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3224">
                <a:tc>
                  <a:txBody>
                    <a:bodyPr anchor="t" rtlCol="false"/>
                    <a:lstStyle/>
                    <a:p>
                      <a:pPr algn="ctr">
                        <a:lnSpc>
                          <a:spcPts val="2520"/>
                        </a:lnSpc>
                        <a:defRPr/>
                      </a:pPr>
                      <a:r>
                        <a:rPr lang="en-US" sz="1800" b="true">
                          <a:solidFill>
                            <a:srgbClr val="000000"/>
                          </a:solidFill>
                          <a:latin typeface="Raleway Bold"/>
                          <a:ea typeface="Raleway Bold"/>
                          <a:cs typeface="Raleway Bold"/>
                          <a:sym typeface="Raleway Bold"/>
                        </a:rPr>
                        <a:t>dev.flowforge.fun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Raleway"/>
                          <a:ea typeface="Raleway"/>
                          <a:cs typeface="Raleway"/>
                          <a:sym typeface="Raleway"/>
                        </a:rPr>
                        <a:t>Testing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00018">
                <a:tc>
                  <a:txBody>
                    <a:bodyPr anchor="t" rtlCol="false"/>
                    <a:lstStyle/>
                    <a:p>
                      <a:pPr algn="ctr">
                        <a:lnSpc>
                          <a:spcPts val="2520"/>
                        </a:lnSpc>
                        <a:defRPr/>
                      </a:pPr>
                      <a:r>
                        <a:rPr lang="en-US" sz="1800" b="true">
                          <a:solidFill>
                            <a:srgbClr val="000000"/>
                          </a:solidFill>
                          <a:latin typeface="Raleway Bold"/>
                          <a:ea typeface="Raleway Bold"/>
                          <a:cs typeface="Raleway Bold"/>
                          <a:sym typeface="Raleway Bold"/>
                        </a:rPr>
                        <a:t>preview.flowforge.fun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Raleway"/>
                          <a:ea typeface="Raleway"/>
                          <a:cs typeface="Raleway"/>
                          <a:sym typeface="Raleway"/>
                        </a:rPr>
                        <a:t>Preview before going to production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3224">
                <a:tc>
                  <a:txBody>
                    <a:bodyPr anchor="t" rtlCol="false"/>
                    <a:lstStyle/>
                    <a:p>
                      <a:pPr algn="ctr">
                        <a:lnSpc>
                          <a:spcPts val="2520"/>
                        </a:lnSpc>
                        <a:defRPr/>
                      </a:pPr>
                      <a:r>
                        <a:rPr lang="en-US" sz="1800" b="true">
                          <a:solidFill>
                            <a:srgbClr val="000000"/>
                          </a:solidFill>
                          <a:latin typeface="Raleway Bold"/>
                          <a:ea typeface="Raleway Bold"/>
                          <a:cs typeface="Raleway Bold"/>
                          <a:sym typeface="Raleway Bold"/>
                        </a:rPr>
                        <a:t>sonar.flowforge.fun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Raleway"/>
                          <a:ea typeface="Raleway"/>
                          <a:cs typeface="Raleway"/>
                          <a:sym typeface="Raleway"/>
                        </a:rPr>
                        <a:t>SonarQube Server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3224">
                <a:tc>
                  <a:txBody>
                    <a:bodyPr anchor="t" rtlCol="false"/>
                    <a:lstStyle/>
                    <a:p>
                      <a:pPr algn="ctr">
                        <a:lnSpc>
                          <a:spcPts val="2520"/>
                        </a:lnSpc>
                        <a:defRPr/>
                      </a:pPr>
                      <a:r>
                        <a:rPr lang="en-US" sz="1800" b="true">
                          <a:solidFill>
                            <a:srgbClr val="000000"/>
                          </a:solidFill>
                          <a:latin typeface="Raleway Bold"/>
                          <a:ea typeface="Raleway Bold"/>
                          <a:cs typeface="Raleway Bold"/>
                          <a:sym typeface="Raleway Bold"/>
                        </a:rPr>
                        <a:t>argocd.flowforge.fun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Raleway"/>
                          <a:ea typeface="Raleway"/>
                          <a:cs typeface="Raleway"/>
                          <a:sym typeface="Raleway"/>
                        </a:rPr>
                        <a:t>ArgoCD Dashboard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3224">
                <a:tc>
                  <a:txBody>
                    <a:bodyPr anchor="t" rtlCol="false"/>
                    <a:lstStyle/>
                    <a:p>
                      <a:pPr algn="ctr">
                        <a:lnSpc>
                          <a:spcPts val="2520"/>
                        </a:lnSpc>
                        <a:defRPr/>
                      </a:pPr>
                      <a:r>
                        <a:rPr lang="en-US" sz="1800" b="true">
                          <a:solidFill>
                            <a:srgbClr val="000000"/>
                          </a:solidFill>
                          <a:latin typeface="Raleway Bold"/>
                          <a:ea typeface="Raleway Bold"/>
                          <a:cs typeface="Raleway Bold"/>
                          <a:sym typeface="Raleway Bold"/>
                        </a:rPr>
                        <a:t>rollouts.flowforge.fun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Raleway"/>
                          <a:ea typeface="Raleway"/>
                          <a:cs typeface="Raleway"/>
                          <a:sym typeface="Raleway"/>
                        </a:rPr>
                        <a:t>Argo Rollouts Dashboard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3224">
                <a:tc>
                  <a:txBody>
                    <a:bodyPr anchor="t" rtlCol="false"/>
                    <a:lstStyle/>
                    <a:p>
                      <a:pPr algn="ctr">
                        <a:lnSpc>
                          <a:spcPts val="2520"/>
                        </a:lnSpc>
                        <a:defRPr/>
                      </a:pPr>
                      <a:r>
                        <a:rPr lang="en-US" sz="1800" b="true">
                          <a:solidFill>
                            <a:srgbClr val="000000"/>
                          </a:solidFill>
                          <a:latin typeface="Raleway Bold"/>
                          <a:ea typeface="Raleway Bold"/>
                          <a:cs typeface="Raleway Bold"/>
                          <a:sym typeface="Raleway Bold"/>
                        </a:rPr>
                        <a:t>headlamp.flowforge.fun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Raleway"/>
                          <a:ea typeface="Raleway"/>
                          <a:cs typeface="Raleway"/>
                          <a:sym typeface="Raleway"/>
                        </a:rPr>
                        <a:t>Headlamp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3224">
                <a:tc>
                  <a:txBody>
                    <a:bodyPr anchor="t" rtlCol="false"/>
                    <a:lstStyle/>
                    <a:p>
                      <a:pPr algn="ctr">
                        <a:lnSpc>
                          <a:spcPts val="2520"/>
                        </a:lnSpc>
                        <a:defRPr/>
                      </a:pPr>
                      <a:r>
                        <a:rPr lang="en-US" sz="1800" b="true">
                          <a:solidFill>
                            <a:srgbClr val="000000"/>
                          </a:solidFill>
                          <a:latin typeface="Raleway Bold"/>
                          <a:ea typeface="Raleway Bold"/>
                          <a:cs typeface="Raleway Bold"/>
                          <a:sym typeface="Raleway Bold"/>
                        </a:rPr>
                        <a:t>keycloak.flowforge.fun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Raleway"/>
                          <a:ea typeface="Raleway"/>
                          <a:cs typeface="Raleway"/>
                          <a:sym typeface="Raleway"/>
                        </a:rPr>
                        <a:t>Keycloak -OIDC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00018">
                <a:tc>
                  <a:txBody>
                    <a:bodyPr anchor="t" rtlCol="false"/>
                    <a:lstStyle/>
                    <a:p>
                      <a:pPr algn="ctr">
                        <a:lnSpc>
                          <a:spcPts val="2520"/>
                        </a:lnSpc>
                        <a:defRPr/>
                      </a:pPr>
                      <a:r>
                        <a:rPr lang="en-US" sz="1800" b="true">
                          <a:solidFill>
                            <a:srgbClr val="000000"/>
                          </a:solidFill>
                          <a:latin typeface="Raleway Bold"/>
                          <a:ea typeface="Raleway Bold"/>
                          <a:cs typeface="Raleway Bold"/>
                          <a:sym typeface="Raleway Bold"/>
                        </a:rPr>
                        <a:t>prometheus.flowforge.fun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Raleway"/>
                          <a:ea typeface="Raleway"/>
                          <a:cs typeface="Raleway"/>
                          <a:sym typeface="Raleway"/>
                        </a:rPr>
                        <a:t>Aert manager and Pormetheus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3224">
                <a:tc>
                  <a:txBody>
                    <a:bodyPr anchor="t" rtlCol="false"/>
                    <a:lstStyle/>
                    <a:p>
                      <a:pPr algn="ctr">
                        <a:lnSpc>
                          <a:spcPts val="2520"/>
                        </a:lnSpc>
                        <a:defRPr/>
                      </a:pPr>
                      <a:r>
                        <a:rPr lang="en-US" sz="1800" b="true">
                          <a:solidFill>
                            <a:srgbClr val="000000"/>
                          </a:solidFill>
                          <a:latin typeface="Raleway Bold"/>
                          <a:ea typeface="Raleway Bold"/>
                          <a:cs typeface="Raleway Bold"/>
                          <a:sym typeface="Raleway Bold"/>
                        </a:rPr>
                        <a:t>grafana.flowforge.fun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Raleway"/>
                          <a:ea typeface="Raleway"/>
                          <a:cs typeface="Raleway"/>
                          <a:sym typeface="Raleway"/>
                        </a:rPr>
                        <a:t>Grafana Dashboard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957231" y="2674002"/>
            <a:ext cx="5467231"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Domain and Subdomains</a:t>
            </a:r>
          </a:p>
        </p:txBody>
      </p:sp>
      <p:sp>
        <p:nvSpPr>
          <p:cNvPr name="TextBox 4" id="4"/>
          <p:cNvSpPr txBox="true"/>
          <p:nvPr/>
        </p:nvSpPr>
        <p:spPr>
          <a:xfrm rot="0">
            <a:off x="588635" y="4237672"/>
            <a:ext cx="8913664" cy="1735455"/>
          </a:xfrm>
          <a:prstGeom prst="rect">
            <a:avLst/>
          </a:prstGeom>
        </p:spPr>
        <p:txBody>
          <a:bodyPr anchor="t" rtlCol="false" tIns="0" lIns="0" bIns="0" rIns="0">
            <a:spAutoFit/>
          </a:bodyPr>
          <a:lstStyle/>
          <a:p>
            <a:pPr algn="l">
              <a:lnSpc>
                <a:spcPts val="4619"/>
              </a:lnSpc>
              <a:spcBef>
                <a:spcPct val="0"/>
              </a:spcBef>
            </a:pPr>
            <a:r>
              <a:rPr lang="en-US" sz="3299">
                <a:solidFill>
                  <a:srgbClr val="000000"/>
                </a:solidFill>
                <a:latin typeface="Raleway"/>
                <a:ea typeface="Raleway"/>
                <a:cs typeface="Raleway"/>
                <a:sym typeface="Raleway"/>
              </a:rPr>
              <a:t>For all the domains and subdomains SSL/TLS termination i done at HAProxy , all the cerificates generated are using certbot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93371" y="2118763"/>
            <a:ext cx="11301259" cy="5537617"/>
          </a:xfrm>
          <a:custGeom>
            <a:avLst/>
            <a:gdLst/>
            <a:ahLst/>
            <a:cxnLst/>
            <a:rect r="r" b="b" t="t" l="l"/>
            <a:pathLst>
              <a:path h="5537617" w="11301259">
                <a:moveTo>
                  <a:pt x="0" y="0"/>
                </a:moveTo>
                <a:lnTo>
                  <a:pt x="11301258" y="0"/>
                </a:lnTo>
                <a:lnTo>
                  <a:pt x="11301258" y="5537617"/>
                </a:lnTo>
                <a:lnTo>
                  <a:pt x="0" y="5537617"/>
                </a:lnTo>
                <a:lnTo>
                  <a:pt x="0" y="0"/>
                </a:lnTo>
                <a:close/>
              </a:path>
            </a:pathLst>
          </a:custGeom>
          <a:blipFill>
            <a:blip r:embed="rId2"/>
            <a:stretch>
              <a:fillRect l="0" t="0" r="0" b="0"/>
            </a:stretch>
          </a:blipFill>
        </p:spPr>
      </p:sp>
      <p:sp>
        <p:nvSpPr>
          <p:cNvPr name="TextBox 3" id="3"/>
          <p:cNvSpPr txBox="true"/>
          <p:nvPr/>
        </p:nvSpPr>
        <p:spPr>
          <a:xfrm rot="0">
            <a:off x="8143905" y="396239"/>
            <a:ext cx="1181219"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DAST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4290" y="3317846"/>
            <a:ext cx="8381031" cy="3760513"/>
          </a:xfrm>
          <a:custGeom>
            <a:avLst/>
            <a:gdLst/>
            <a:ahLst/>
            <a:cxnLst/>
            <a:rect r="r" b="b" t="t" l="l"/>
            <a:pathLst>
              <a:path h="3760513" w="8381031">
                <a:moveTo>
                  <a:pt x="0" y="0"/>
                </a:moveTo>
                <a:lnTo>
                  <a:pt x="8381031" y="0"/>
                </a:lnTo>
                <a:lnTo>
                  <a:pt x="8381031" y="3760513"/>
                </a:lnTo>
                <a:lnTo>
                  <a:pt x="0" y="3760513"/>
                </a:lnTo>
                <a:lnTo>
                  <a:pt x="0" y="0"/>
                </a:lnTo>
                <a:close/>
              </a:path>
            </a:pathLst>
          </a:custGeom>
          <a:blipFill>
            <a:blip r:embed="rId2"/>
            <a:stretch>
              <a:fillRect l="0" t="-10598" r="0" b="0"/>
            </a:stretch>
          </a:blipFill>
        </p:spPr>
      </p:sp>
      <p:sp>
        <p:nvSpPr>
          <p:cNvPr name="Freeform 3" id="3"/>
          <p:cNvSpPr/>
          <p:nvPr/>
        </p:nvSpPr>
        <p:spPr>
          <a:xfrm flipH="false" flipV="false" rot="0">
            <a:off x="9144000" y="3208641"/>
            <a:ext cx="8861690" cy="3869719"/>
          </a:xfrm>
          <a:custGeom>
            <a:avLst/>
            <a:gdLst/>
            <a:ahLst/>
            <a:cxnLst/>
            <a:rect r="r" b="b" t="t" l="l"/>
            <a:pathLst>
              <a:path h="3869719" w="8861690">
                <a:moveTo>
                  <a:pt x="0" y="0"/>
                </a:moveTo>
                <a:lnTo>
                  <a:pt x="8861690" y="0"/>
                </a:lnTo>
                <a:lnTo>
                  <a:pt x="8861690" y="3869718"/>
                </a:lnTo>
                <a:lnTo>
                  <a:pt x="0" y="3869718"/>
                </a:lnTo>
                <a:lnTo>
                  <a:pt x="0" y="0"/>
                </a:lnTo>
                <a:close/>
              </a:path>
            </a:pathLst>
          </a:custGeom>
          <a:blipFill>
            <a:blip r:embed="rId3"/>
            <a:stretch>
              <a:fillRect l="0" t="-12210" r="0" b="0"/>
            </a:stretch>
          </a:blipFill>
        </p:spPr>
      </p:sp>
      <p:sp>
        <p:nvSpPr>
          <p:cNvPr name="TextBox 4" id="4"/>
          <p:cNvSpPr txBox="true"/>
          <p:nvPr/>
        </p:nvSpPr>
        <p:spPr>
          <a:xfrm rot="0">
            <a:off x="7583395" y="217090"/>
            <a:ext cx="2542104"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Dev vs Prod</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93371" y="3263012"/>
            <a:ext cx="11301259" cy="6300452"/>
          </a:xfrm>
          <a:custGeom>
            <a:avLst/>
            <a:gdLst/>
            <a:ahLst/>
            <a:cxnLst/>
            <a:rect r="r" b="b" t="t" l="l"/>
            <a:pathLst>
              <a:path h="6300452" w="11301259">
                <a:moveTo>
                  <a:pt x="0" y="0"/>
                </a:moveTo>
                <a:lnTo>
                  <a:pt x="11301258" y="0"/>
                </a:lnTo>
                <a:lnTo>
                  <a:pt x="11301258" y="6300452"/>
                </a:lnTo>
                <a:lnTo>
                  <a:pt x="0" y="6300452"/>
                </a:lnTo>
                <a:lnTo>
                  <a:pt x="0" y="0"/>
                </a:lnTo>
                <a:close/>
              </a:path>
            </a:pathLst>
          </a:custGeom>
          <a:blipFill>
            <a:blip r:embed="rId2"/>
            <a:stretch>
              <a:fillRect l="0" t="0" r="0" b="0"/>
            </a:stretch>
          </a:blipFill>
        </p:spPr>
      </p:sp>
      <p:sp>
        <p:nvSpPr>
          <p:cNvPr name="TextBox 3" id="3"/>
          <p:cNvSpPr txBox="true"/>
          <p:nvPr/>
        </p:nvSpPr>
        <p:spPr>
          <a:xfrm rot="0">
            <a:off x="7284571" y="238611"/>
            <a:ext cx="2494121"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Verification</a:t>
            </a:r>
          </a:p>
        </p:txBody>
      </p:sp>
      <p:sp>
        <p:nvSpPr>
          <p:cNvPr name="TextBox 4" id="4"/>
          <p:cNvSpPr txBox="true"/>
          <p:nvPr/>
        </p:nvSpPr>
        <p:spPr>
          <a:xfrm rot="0">
            <a:off x="3493371" y="2286216"/>
            <a:ext cx="4681895" cy="632461"/>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Raleway"/>
                <a:ea typeface="Raleway"/>
                <a:cs typeface="Raleway"/>
                <a:sym typeface="Raleway"/>
              </a:rPr>
              <a:t>kubectl get all -n prod</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38509" y="5143500"/>
            <a:ext cx="11301259" cy="3898934"/>
          </a:xfrm>
          <a:custGeom>
            <a:avLst/>
            <a:gdLst/>
            <a:ahLst/>
            <a:cxnLst/>
            <a:rect r="r" b="b" t="t" l="l"/>
            <a:pathLst>
              <a:path h="3898934" w="11301259">
                <a:moveTo>
                  <a:pt x="0" y="0"/>
                </a:moveTo>
                <a:lnTo>
                  <a:pt x="11301259" y="0"/>
                </a:lnTo>
                <a:lnTo>
                  <a:pt x="11301259" y="3898934"/>
                </a:lnTo>
                <a:lnTo>
                  <a:pt x="0" y="3898934"/>
                </a:lnTo>
                <a:lnTo>
                  <a:pt x="0" y="0"/>
                </a:lnTo>
                <a:close/>
              </a:path>
            </a:pathLst>
          </a:custGeom>
          <a:blipFill>
            <a:blip r:embed="rId2"/>
            <a:stretch>
              <a:fillRect l="0" t="0" r="0" b="0"/>
            </a:stretch>
          </a:blipFill>
        </p:spPr>
      </p:sp>
      <p:sp>
        <p:nvSpPr>
          <p:cNvPr name="Freeform 3" id="3"/>
          <p:cNvSpPr/>
          <p:nvPr/>
        </p:nvSpPr>
        <p:spPr>
          <a:xfrm flipH="false" flipV="false" rot="0">
            <a:off x="3296428" y="248141"/>
            <a:ext cx="10185421" cy="4403461"/>
          </a:xfrm>
          <a:custGeom>
            <a:avLst/>
            <a:gdLst/>
            <a:ahLst/>
            <a:cxnLst/>
            <a:rect r="r" b="b" t="t" l="l"/>
            <a:pathLst>
              <a:path h="4403461" w="10185421">
                <a:moveTo>
                  <a:pt x="0" y="0"/>
                </a:moveTo>
                <a:lnTo>
                  <a:pt x="10185421" y="0"/>
                </a:lnTo>
                <a:lnTo>
                  <a:pt x="10185421" y="4403461"/>
                </a:lnTo>
                <a:lnTo>
                  <a:pt x="0" y="4403461"/>
                </a:lnTo>
                <a:lnTo>
                  <a:pt x="0" y="0"/>
                </a:lnTo>
                <a:close/>
              </a:path>
            </a:pathLst>
          </a:custGeom>
          <a:blipFill>
            <a:blip r:embed="rId3"/>
            <a:stretch>
              <a:fillRect l="0" t="-7819" r="0" b="-15639"/>
            </a:stretch>
          </a:blipFill>
        </p:spPr>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554835" y="942975"/>
            <a:ext cx="2446615" cy="632461"/>
          </a:xfrm>
          <a:prstGeom prst="rect">
            <a:avLst/>
          </a:prstGeom>
        </p:spPr>
        <p:txBody>
          <a:bodyPr anchor="t" rtlCol="false" tIns="0" lIns="0" bIns="0" rIns="0">
            <a:spAutoFit/>
          </a:bodyPr>
          <a:lstStyle/>
          <a:p>
            <a:pPr algn="ctr">
              <a:lnSpc>
                <a:spcPts val="5039"/>
              </a:lnSpc>
              <a:spcBef>
                <a:spcPct val="0"/>
              </a:spcBef>
            </a:pPr>
            <a:r>
              <a:rPr lang="en-US" b="true" sz="3599">
                <a:solidFill>
                  <a:srgbClr val="FF751F"/>
                </a:solidFill>
                <a:latin typeface="Raleway Bold"/>
                <a:ea typeface="Raleway Bold"/>
                <a:cs typeface="Raleway Bold"/>
                <a:sym typeface="Raleway Bold"/>
              </a:rPr>
              <a:t>Conclusion</a:t>
            </a:r>
          </a:p>
        </p:txBody>
      </p:sp>
      <p:sp>
        <p:nvSpPr>
          <p:cNvPr name="TextBox 3" id="3"/>
          <p:cNvSpPr txBox="true"/>
          <p:nvPr/>
        </p:nvSpPr>
        <p:spPr>
          <a:xfrm rot="0">
            <a:off x="1028700" y="3188970"/>
            <a:ext cx="16230600" cy="3823336"/>
          </a:xfrm>
          <a:prstGeom prst="rect">
            <a:avLst/>
          </a:prstGeom>
        </p:spPr>
        <p:txBody>
          <a:bodyPr anchor="t" rtlCol="false" tIns="0" lIns="0" bIns="0" rIns="0">
            <a:spAutoFit/>
          </a:bodyPr>
          <a:lstStyle/>
          <a:p>
            <a:pPr algn="ctr">
              <a:lnSpc>
                <a:spcPts val="5039"/>
              </a:lnSpc>
              <a:spcBef>
                <a:spcPct val="0"/>
              </a:spcBef>
            </a:pPr>
            <a:r>
              <a:rPr lang="en-US" b="true" sz="3599">
                <a:solidFill>
                  <a:srgbClr val="000000"/>
                </a:solidFill>
                <a:latin typeface="Raleway Bold"/>
                <a:ea typeface="Raleway Bold"/>
                <a:cs typeface="Raleway Bold"/>
                <a:sym typeface="Raleway Bold"/>
              </a:rPr>
              <a:t>This project demonstrates a complete, enterprise-ready DevOps platform — from identity management and network segmentation to automated CI/CD pipelines and GitOps-driven deployments. The architecture is secure by default, observable by design, and scalable through pattern-driven configuration. It represents a production-grade implementation of modern cloud-native DevOps principles.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DAHH_VNAxM8</dc:identifier>
  <dcterms:modified xsi:type="dcterms:W3CDTF">2011-08-01T06:04:30Z</dcterms:modified>
  <cp:revision>1</cp:revision>
  <dc:title>Blue and White Minimalist Project Presentation</dc:title>
</cp:coreProperties>
</file>